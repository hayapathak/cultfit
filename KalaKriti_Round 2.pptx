
<file path=[Content_Types].xml><?xml version="1.0" encoding="utf-8"?>
<Types xmlns="http://schemas.openxmlformats.org/package/2006/content-types"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4" r:id="rId19"/>
    <p:sldId id="276" r:id="rId20"/>
    <p:sldId id="277" r:id="rId21"/>
    <p:sldId id="278" r:id="rId2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D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534"/>
    <p:restoredTop sz="94610"/>
  </p:normalViewPr>
  <p:slideViewPr>
    <p:cSldViewPr snapToGrid="0" snapToObjects="1">
      <p:cViewPr>
        <p:scale>
          <a:sx n="113" d="100"/>
          <a:sy n="113" d="100"/>
        </p:scale>
        <p:origin x="712" y="8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04570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product, not the problem. One sentence: we extended the cult.fit self-improvement ecosystem from physical fitness into mental wellbeing.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the audience feel the gap: people can find fitness, self-help and professional support, but these experiences are disconnected.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key opportunity is not adding a random mental-health tab. It is extending the same improvement relationship into a new state of wellbeing.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brand fidelity: recognizable logo, colors, booking and tracking patterns remain. What changes is the emotional temperature.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central design tension: keep cult.fit recognizable without bringing a high-performance emotional state into a reflective mental-wellness moment.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Name-drop the 2025 systematic review. Then say the design claim carefully: colour affects perception and is associated with affective dimensions; it is not a deterministic neurochemical switch.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where you make the UX philosophy concrete. One thing per screen reduces choice overload and keeps the next action obvious.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three states. The same feature should feel different depending on whether someone is completely new, experienced, or already a cult.fit member.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consent and control. The product invites reflection; it does not force disclosure.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Avoid saying “Instagram is bad.” Say: we reused a familiar interaction pattern but changed what it rewards — reflection, practice and useful content rather than public performance.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your strongest research graph. Point to the actual r values, then immediately say these are associations, not causal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Accessibility is part of the product promise. Name-drop WHO and WCAG. The strongest point is that these ideas are implemented, not theoretical.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answer to “why so much motion?”: motion is used as hierarchy, not decoration. Then prove there is a reduced-motion route.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emotional/ethical slide. The product should offer useful self-guided steps without pretending every situation is solved by a booking.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product USP: tracking becomes useful when variables can be viewed together over time. Make clear the visual is conceptual, not a clinical metric.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is the proof that accessibility was implemented, not just stated.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to show front-end maturity. Every page uses the same components, hierarchy and motion rules.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clean product-architecture story. Zoom out: the website is a loop, not a pile of screens.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should be the biggest proof section. Stop advancing slides here. Open the website and navigate the exact route shown.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synthesis slide. The product is not differentiated by having therapists; the differentiation is the connected ecosystem and the way the interaction model translates across needs.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four-part ecosystem: Body. Mind. Habits. Growth. Then pause.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_DARK">
    <p:bg>
      <p:bgPr>
        <a:solidFill>
          <a:srgbClr val="070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motion_assets/ambient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4">
              <a:alpha val="90000"/>
            </a:srgbClr>
          </a:solidFill>
          <a:ln w="12700">
            <a:solidFill>
              <a:srgbClr val="070A1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502920" y="201168"/>
            <a:ext cx="0" cy="6519672"/>
          </a:xfrm>
          <a:prstGeom prst="line">
            <a:avLst/>
          </a:prstGeom>
          <a:noFill/>
          <a:ln w="5080">
            <a:solidFill>
              <a:srgbClr val="2A3346">
                <a:alpha val="1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1280160" y="201168"/>
            <a:ext cx="0" cy="6519672"/>
          </a:xfrm>
          <a:prstGeom prst="line">
            <a:avLst/>
          </a:prstGeom>
          <a:noFill/>
          <a:ln w="5080">
            <a:solidFill>
              <a:srgbClr val="2A3346">
                <a:alpha val="1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2057400" y="201168"/>
            <a:ext cx="0" cy="6519672"/>
          </a:xfrm>
          <a:prstGeom prst="line">
            <a:avLst/>
          </a:prstGeom>
          <a:noFill/>
          <a:ln w="5080">
            <a:solidFill>
              <a:srgbClr val="2A3346">
                <a:alpha val="1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2834640" y="201168"/>
            <a:ext cx="0" cy="6519672"/>
          </a:xfrm>
          <a:prstGeom prst="line">
            <a:avLst/>
          </a:prstGeom>
          <a:noFill/>
          <a:ln w="5080">
            <a:solidFill>
              <a:srgbClr val="2A3346">
                <a:alpha val="1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3611880" y="201168"/>
            <a:ext cx="0" cy="6519672"/>
          </a:xfrm>
          <a:prstGeom prst="line">
            <a:avLst/>
          </a:prstGeom>
          <a:noFill/>
          <a:ln w="5080">
            <a:solidFill>
              <a:srgbClr val="2A3346">
                <a:alpha val="1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4389120" y="201168"/>
            <a:ext cx="0" cy="6519672"/>
          </a:xfrm>
          <a:prstGeom prst="line">
            <a:avLst/>
          </a:prstGeom>
          <a:noFill/>
          <a:ln w="5080">
            <a:solidFill>
              <a:srgbClr val="2A3346">
                <a:alpha val="1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5166360" y="201168"/>
            <a:ext cx="0" cy="6519672"/>
          </a:xfrm>
          <a:prstGeom prst="line">
            <a:avLst/>
          </a:prstGeom>
          <a:noFill/>
          <a:ln w="5080">
            <a:solidFill>
              <a:srgbClr val="2A3346">
                <a:alpha val="1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5943600" y="201168"/>
            <a:ext cx="0" cy="6519672"/>
          </a:xfrm>
          <a:prstGeom prst="line">
            <a:avLst/>
          </a:prstGeom>
          <a:noFill/>
          <a:ln w="5080">
            <a:solidFill>
              <a:srgbClr val="2A3346">
                <a:alpha val="1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6720840" y="201168"/>
            <a:ext cx="0" cy="6519672"/>
          </a:xfrm>
          <a:prstGeom prst="line">
            <a:avLst/>
          </a:prstGeom>
          <a:noFill/>
          <a:ln w="5080">
            <a:solidFill>
              <a:srgbClr val="2A3346">
                <a:alpha val="1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7498080" y="201168"/>
            <a:ext cx="0" cy="6519672"/>
          </a:xfrm>
          <a:prstGeom prst="line">
            <a:avLst/>
          </a:prstGeom>
          <a:noFill/>
          <a:ln w="5080">
            <a:solidFill>
              <a:srgbClr val="2A3346">
                <a:alpha val="1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8275320" y="201168"/>
            <a:ext cx="0" cy="6519672"/>
          </a:xfrm>
          <a:prstGeom prst="line">
            <a:avLst/>
          </a:prstGeom>
          <a:noFill/>
          <a:ln w="5080">
            <a:solidFill>
              <a:srgbClr val="2A3346">
                <a:alpha val="1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9052560" y="201168"/>
            <a:ext cx="0" cy="6519672"/>
          </a:xfrm>
          <a:prstGeom prst="line">
            <a:avLst/>
          </a:prstGeom>
          <a:noFill/>
          <a:ln w="5080">
            <a:solidFill>
              <a:srgbClr val="2A3346">
                <a:alpha val="1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9829800" y="201168"/>
            <a:ext cx="0" cy="6519672"/>
          </a:xfrm>
          <a:prstGeom prst="line">
            <a:avLst/>
          </a:prstGeom>
          <a:noFill/>
          <a:ln w="5080">
            <a:solidFill>
              <a:srgbClr val="2A3346">
                <a:alpha val="1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10607040" y="201168"/>
            <a:ext cx="0" cy="6519672"/>
          </a:xfrm>
          <a:prstGeom prst="line">
            <a:avLst/>
          </a:prstGeom>
          <a:noFill/>
          <a:ln w="5080">
            <a:solidFill>
              <a:srgbClr val="2A3346">
                <a:alpha val="1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11384280" y="201168"/>
            <a:ext cx="0" cy="6519672"/>
          </a:xfrm>
          <a:prstGeom prst="line">
            <a:avLst/>
          </a:prstGeom>
          <a:noFill/>
          <a:ln w="5080">
            <a:solidFill>
              <a:srgbClr val="2A3346">
                <a:alpha val="1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12161520" y="201168"/>
            <a:ext cx="0" cy="6519672"/>
          </a:xfrm>
          <a:prstGeom prst="line">
            <a:avLst/>
          </a:prstGeom>
          <a:noFill/>
          <a:ln w="5080">
            <a:solidFill>
              <a:srgbClr val="2A3346">
                <a:alpha val="1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228600" y="320040"/>
            <a:ext cx="11734495" cy="0"/>
          </a:xfrm>
          <a:prstGeom prst="line">
            <a:avLst/>
          </a:prstGeom>
          <a:noFill/>
          <a:ln w="5080">
            <a:solidFill>
              <a:srgbClr val="2A3346">
                <a:alpha val="8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228600" y="978408"/>
            <a:ext cx="11734495" cy="0"/>
          </a:xfrm>
          <a:prstGeom prst="line">
            <a:avLst/>
          </a:prstGeom>
          <a:noFill/>
          <a:ln w="5080">
            <a:solidFill>
              <a:srgbClr val="2A3346">
                <a:alpha val="8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228600" y="1636776"/>
            <a:ext cx="11734495" cy="0"/>
          </a:xfrm>
          <a:prstGeom prst="line">
            <a:avLst/>
          </a:prstGeom>
          <a:noFill/>
          <a:ln w="5080">
            <a:solidFill>
              <a:srgbClr val="2A3346">
                <a:alpha val="8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228600" y="2295144"/>
            <a:ext cx="11734495" cy="0"/>
          </a:xfrm>
          <a:prstGeom prst="line">
            <a:avLst/>
          </a:prstGeom>
          <a:noFill/>
          <a:ln w="5080">
            <a:solidFill>
              <a:srgbClr val="2A3346">
                <a:alpha val="8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228600" y="2953512"/>
            <a:ext cx="11734495" cy="0"/>
          </a:xfrm>
          <a:prstGeom prst="line">
            <a:avLst/>
          </a:prstGeom>
          <a:noFill/>
          <a:ln w="5080">
            <a:solidFill>
              <a:srgbClr val="2A3346">
                <a:alpha val="8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228600" y="3611880"/>
            <a:ext cx="11734495" cy="0"/>
          </a:xfrm>
          <a:prstGeom prst="line">
            <a:avLst/>
          </a:prstGeom>
          <a:noFill/>
          <a:ln w="5080">
            <a:solidFill>
              <a:srgbClr val="2A3346">
                <a:alpha val="8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228600" y="4270248"/>
            <a:ext cx="11734495" cy="0"/>
          </a:xfrm>
          <a:prstGeom prst="line">
            <a:avLst/>
          </a:prstGeom>
          <a:noFill/>
          <a:ln w="5080">
            <a:solidFill>
              <a:srgbClr val="2A3346">
                <a:alpha val="8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>
            <a:off x="228600" y="4928616"/>
            <a:ext cx="11734495" cy="0"/>
          </a:xfrm>
          <a:prstGeom prst="line">
            <a:avLst/>
          </a:prstGeom>
          <a:noFill/>
          <a:ln w="5080">
            <a:solidFill>
              <a:srgbClr val="2A3346">
                <a:alpha val="8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>
            <a:off x="228600" y="5586984"/>
            <a:ext cx="11734495" cy="0"/>
          </a:xfrm>
          <a:prstGeom prst="line">
            <a:avLst/>
          </a:prstGeom>
          <a:noFill/>
          <a:ln w="5080">
            <a:solidFill>
              <a:srgbClr val="2A3346">
                <a:alpha val="8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228600" y="6245352"/>
            <a:ext cx="11734495" cy="0"/>
          </a:xfrm>
          <a:prstGeom prst="line">
            <a:avLst/>
          </a:prstGeom>
          <a:noFill/>
          <a:ln w="5080">
            <a:solidFill>
              <a:srgbClr val="2A3346">
                <a:alpha val="8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7"/>
          <p:cNvSpPr/>
          <p:nvPr/>
        </p:nvSpPr>
        <p:spPr>
          <a:xfrm>
            <a:off x="7772400" y="-1005840"/>
            <a:ext cx="4663440" cy="4663440"/>
          </a:xfrm>
          <a:prstGeom prst="ellipse">
            <a:avLst/>
          </a:prstGeom>
          <a:solidFill>
            <a:srgbClr val="FF4E98">
              <a:alpha val="12000"/>
            </a:srgbClr>
          </a:solidFill>
          <a:ln w="12700">
            <a:solidFill>
              <a:srgbClr val="FF4E9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8"/>
          <p:cNvSpPr/>
          <p:nvPr/>
        </p:nvSpPr>
        <p:spPr>
          <a:xfrm>
            <a:off x="-1280160" y="4297680"/>
            <a:ext cx="4023360" cy="4023360"/>
          </a:xfrm>
          <a:prstGeom prst="ellipse">
            <a:avLst/>
          </a:prstGeom>
          <a:solidFill>
            <a:srgbClr val="59D9FF">
              <a:alpha val="10000"/>
            </a:srgbClr>
          </a:solidFill>
          <a:ln w="12700">
            <a:solidFill>
              <a:srgbClr val="59D9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29"/>
          <p:cNvSpPr/>
          <p:nvPr/>
        </p:nvSpPr>
        <p:spPr>
          <a:xfrm>
            <a:off x="658368" y="438912"/>
            <a:ext cx="1417320" cy="246888"/>
          </a:xfrm>
          <a:prstGeom prst="roundRect">
            <a:avLst>
              <a:gd name="adj" fmla="val 51852"/>
            </a:avLst>
          </a:prstGeom>
          <a:solidFill>
            <a:srgbClr val="FFD51E"/>
          </a:solidFill>
          <a:ln w="8890">
            <a:solidFill>
              <a:srgbClr val="FFD51E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 txBox="1"/>
          <p:nvPr/>
        </p:nvSpPr>
        <p:spPr>
          <a:xfrm>
            <a:off x="731520" y="452628"/>
            <a:ext cx="12710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kern="0" spc="6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cult.fit  ×  MIND</a:t>
            </a:r>
            <a:endParaRPr lang="en-US" sz="920" dirty="0"/>
          </a:p>
        </p:txBody>
      </p:sp>
      <p:sp>
        <p:nvSpPr>
          <p:cNvPr id="34" name="Text 31"/>
          <p:cNvSpPr txBox="1"/>
          <p:nvPr/>
        </p:nvSpPr>
        <p:spPr>
          <a:xfrm>
            <a:off x="2212848" y="457200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endParaRPr lang="en-US" sz="850" dirty="0"/>
          </a:p>
        </p:txBody>
      </p:sp>
      <p:sp>
        <p:nvSpPr>
          <p:cNvPr id="35" name="Text 32"/>
          <p:cNvSpPr txBox="1"/>
          <p:nvPr/>
        </p:nvSpPr>
        <p:spPr>
          <a:xfrm>
            <a:off x="658368" y="1115568"/>
            <a:ext cx="56692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4100" b="1" dirty="0">
                <a:solidFill>
                  <a:srgbClr val="F7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healthier</a:t>
            </a:r>
            <a:endParaRPr lang="en-US" sz="4100" dirty="0"/>
          </a:p>
          <a:p>
            <a:pPr marL="0" indent="0" algn="l">
              <a:buNone/>
            </a:pPr>
            <a:r>
              <a:rPr lang="en-US" sz="4100" b="1" dirty="0">
                <a:solidFill>
                  <a:srgbClr val="F7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mind, built into</a:t>
            </a:r>
            <a:endParaRPr lang="en-US" sz="4100" dirty="0"/>
          </a:p>
          <a:p>
            <a:pPr marL="0" indent="0" algn="l">
              <a:buNone/>
            </a:pPr>
            <a:r>
              <a:rPr lang="en-US" sz="4100" b="1" dirty="0">
                <a:solidFill>
                  <a:srgbClr val="F7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your day.</a:t>
            </a:r>
            <a:endParaRPr lang="en-US" sz="4100" dirty="0"/>
          </a:p>
        </p:txBody>
      </p:sp>
      <p:sp>
        <p:nvSpPr>
          <p:cNvPr id="36" name="Text 33"/>
          <p:cNvSpPr txBox="1"/>
          <p:nvPr/>
        </p:nvSpPr>
        <p:spPr>
          <a:xfrm>
            <a:off x="694944" y="3310128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AAB2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mental-wellness layer built into the cult.fit ecosystem — designed to feel familiar, useful, and human.</a:t>
            </a:r>
            <a:endParaRPr lang="en-US" sz="1700" dirty="0"/>
          </a:p>
        </p:txBody>
      </p:sp>
      <p:sp>
        <p:nvSpPr>
          <p:cNvPr id="37" name="Shape 34"/>
          <p:cNvSpPr/>
          <p:nvPr/>
        </p:nvSpPr>
        <p:spPr>
          <a:xfrm>
            <a:off x="694944" y="4443984"/>
            <a:ext cx="1417320" cy="246888"/>
          </a:xfrm>
          <a:prstGeom prst="roundRect">
            <a:avLst>
              <a:gd name="adj" fmla="val 51852"/>
            </a:avLst>
          </a:prstGeom>
          <a:solidFill>
            <a:srgbClr val="141B29"/>
          </a:solidFill>
          <a:ln w="8890">
            <a:solidFill>
              <a:srgbClr val="2A3346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5"/>
          <p:cNvSpPr txBox="1"/>
          <p:nvPr/>
        </p:nvSpPr>
        <p:spPr>
          <a:xfrm>
            <a:off x="768096" y="4457700"/>
            <a:ext cx="12710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kern="0" spc="60" dirty="0">
                <a:solidFill>
                  <a:srgbClr val="59D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MENTAL FITNESS</a:t>
            </a:r>
            <a:endParaRPr lang="en-US" sz="860" dirty="0"/>
          </a:p>
        </p:txBody>
      </p:sp>
      <p:sp>
        <p:nvSpPr>
          <p:cNvPr id="39" name="Shape 36"/>
          <p:cNvSpPr/>
          <p:nvPr/>
        </p:nvSpPr>
        <p:spPr>
          <a:xfrm>
            <a:off x="2194560" y="4443984"/>
            <a:ext cx="1060704" cy="246888"/>
          </a:xfrm>
          <a:prstGeom prst="roundRect">
            <a:avLst>
              <a:gd name="adj" fmla="val 51852"/>
            </a:avLst>
          </a:prstGeom>
          <a:solidFill>
            <a:srgbClr val="141B29"/>
          </a:solidFill>
          <a:ln w="8890">
            <a:solidFill>
              <a:srgbClr val="2A3346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7"/>
          <p:cNvSpPr txBox="1"/>
          <p:nvPr/>
        </p:nvSpPr>
        <p:spPr>
          <a:xfrm>
            <a:off x="2267712" y="445770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kern="0" spc="60" dirty="0">
                <a:solidFill>
                  <a:srgbClr val="FF00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PHYSICAL</a:t>
            </a:r>
            <a:endParaRPr lang="en-US" sz="860" dirty="0">
              <a:solidFill>
                <a:srgbClr val="FF00D8"/>
              </a:solidFill>
            </a:endParaRPr>
          </a:p>
        </p:txBody>
      </p:sp>
      <p:sp>
        <p:nvSpPr>
          <p:cNvPr id="41" name="Shape 38"/>
          <p:cNvSpPr/>
          <p:nvPr/>
        </p:nvSpPr>
        <p:spPr>
          <a:xfrm>
            <a:off x="3328416" y="4443984"/>
            <a:ext cx="932688" cy="246888"/>
          </a:xfrm>
          <a:prstGeom prst="roundRect">
            <a:avLst>
              <a:gd name="adj" fmla="val 51852"/>
            </a:avLst>
          </a:prstGeom>
          <a:solidFill>
            <a:srgbClr val="141B29"/>
          </a:solidFill>
          <a:ln w="8890">
            <a:solidFill>
              <a:srgbClr val="2A3346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39"/>
          <p:cNvSpPr txBox="1"/>
          <p:nvPr/>
        </p:nvSpPr>
        <p:spPr>
          <a:xfrm>
            <a:off x="3401568" y="4457700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kern="0" spc="60" dirty="0">
                <a:solidFill>
                  <a:srgbClr val="FFD5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HABITS</a:t>
            </a:r>
            <a:endParaRPr lang="en-US" sz="860" dirty="0"/>
          </a:p>
        </p:txBody>
      </p:sp>
      <p:sp>
        <p:nvSpPr>
          <p:cNvPr id="43" name="Shape 40"/>
          <p:cNvSpPr/>
          <p:nvPr/>
        </p:nvSpPr>
        <p:spPr>
          <a:xfrm>
            <a:off x="4334256" y="4443984"/>
            <a:ext cx="1024128" cy="246888"/>
          </a:xfrm>
          <a:prstGeom prst="roundRect">
            <a:avLst>
              <a:gd name="adj" fmla="val 51852"/>
            </a:avLst>
          </a:prstGeom>
          <a:solidFill>
            <a:srgbClr val="141B29"/>
          </a:solidFill>
          <a:ln w="8890">
            <a:solidFill>
              <a:srgbClr val="2A3346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1"/>
          <p:cNvSpPr txBox="1"/>
          <p:nvPr/>
        </p:nvSpPr>
        <p:spPr>
          <a:xfrm>
            <a:off x="4407408" y="4457700"/>
            <a:ext cx="877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kern="0" spc="60" dirty="0">
                <a:solidFill>
                  <a:srgbClr val="57E3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GROWTH</a:t>
            </a:r>
            <a:endParaRPr lang="en-US" sz="860" dirty="0"/>
          </a:p>
        </p:txBody>
      </p:sp>
      <p:sp>
        <p:nvSpPr>
          <p:cNvPr id="45" name="Shape 42"/>
          <p:cNvSpPr/>
          <p:nvPr/>
        </p:nvSpPr>
        <p:spPr>
          <a:xfrm>
            <a:off x="6492240" y="758952"/>
            <a:ext cx="5138928" cy="5166360"/>
          </a:xfrm>
          <a:prstGeom prst="roundRect">
            <a:avLst>
              <a:gd name="adj" fmla="val 2135"/>
            </a:avLst>
          </a:prstGeom>
          <a:solidFill>
            <a:srgbClr val="000000">
              <a:alpha val="3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3"/>
          <p:cNvSpPr/>
          <p:nvPr/>
        </p:nvSpPr>
        <p:spPr>
          <a:xfrm>
            <a:off x="6419088" y="676656"/>
            <a:ext cx="5138928" cy="5166360"/>
          </a:xfrm>
          <a:prstGeom prst="roundRect">
            <a:avLst>
              <a:gd name="adj" fmla="val 2135"/>
            </a:avLst>
          </a:prstGeom>
          <a:solidFill>
            <a:srgbClr val="101522"/>
          </a:solidFill>
          <a:ln w="12700">
            <a:solidFill>
              <a:srgbClr val="2A33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4"/>
          <p:cNvSpPr/>
          <p:nvPr/>
        </p:nvSpPr>
        <p:spPr>
          <a:xfrm>
            <a:off x="6437376" y="694944"/>
            <a:ext cx="5102352" cy="301752"/>
          </a:xfrm>
          <a:prstGeom prst="roundRect">
            <a:avLst>
              <a:gd name="adj" fmla="val 24242"/>
            </a:avLst>
          </a:prstGeom>
          <a:solidFill>
            <a:srgbClr val="0B101B"/>
          </a:solidFill>
          <a:ln w="12700">
            <a:solidFill>
              <a:srgbClr val="0B101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5"/>
          <p:cNvSpPr/>
          <p:nvPr/>
        </p:nvSpPr>
        <p:spPr>
          <a:xfrm>
            <a:off x="6556248" y="795528"/>
            <a:ext cx="64008" cy="64008"/>
          </a:xfrm>
          <a:prstGeom prst="ellipse">
            <a:avLst/>
          </a:prstGeom>
          <a:solidFill>
            <a:srgbClr val="FF4E98"/>
          </a:solidFill>
          <a:ln w="12700">
            <a:solidFill>
              <a:srgbClr val="FF4E9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6"/>
          <p:cNvSpPr/>
          <p:nvPr/>
        </p:nvSpPr>
        <p:spPr>
          <a:xfrm>
            <a:off x="6665976" y="795528"/>
            <a:ext cx="64008" cy="64008"/>
          </a:xfrm>
          <a:prstGeom prst="ellipse">
            <a:avLst/>
          </a:prstGeom>
          <a:solidFill>
            <a:srgbClr val="FFD51E"/>
          </a:solidFill>
          <a:ln w="12700">
            <a:solidFill>
              <a:srgbClr val="FFD51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7"/>
          <p:cNvSpPr/>
          <p:nvPr/>
        </p:nvSpPr>
        <p:spPr>
          <a:xfrm>
            <a:off x="6775704" y="795528"/>
            <a:ext cx="64008" cy="64008"/>
          </a:xfrm>
          <a:prstGeom prst="ellipse">
            <a:avLst/>
          </a:prstGeom>
          <a:solidFill>
            <a:srgbClr val="57E3B1"/>
          </a:solidFill>
          <a:ln w="12700">
            <a:solidFill>
              <a:srgbClr val="57E3B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8"/>
          <p:cNvSpPr txBox="1"/>
          <p:nvPr/>
        </p:nvSpPr>
        <p:spPr>
          <a:xfrm>
            <a:off x="6986016" y="768096"/>
            <a:ext cx="3904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737D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cultfit-mind / home</a:t>
            </a:r>
            <a:endParaRPr lang="en-US" sz="750" dirty="0"/>
          </a:p>
        </p:txBody>
      </p:sp>
      <p:pic>
        <p:nvPicPr>
          <p:cNvPr id="52" name="Image 1" descr="/mnt/data/site_screens/index.png"/>
          <p:cNvPicPr>
            <a:picLocks noChangeAspect="1"/>
          </p:cNvPicPr>
          <p:nvPr/>
        </p:nvPicPr>
        <p:blipFill>
          <a:blip r:embed="rId4"/>
          <a:srcRect l="16912" r="16912"/>
          <a:stretch/>
        </p:blipFill>
        <p:spPr>
          <a:xfrm>
            <a:off x="6437376" y="1005840"/>
            <a:ext cx="5102352" cy="4818888"/>
          </a:xfrm>
          <a:prstGeom prst="rect">
            <a:avLst/>
          </a:prstGeom>
        </p:spPr>
      </p:pic>
      <p:sp>
        <p:nvSpPr>
          <p:cNvPr id="53" name="Shape 49"/>
          <p:cNvSpPr/>
          <p:nvPr/>
        </p:nvSpPr>
        <p:spPr>
          <a:xfrm>
            <a:off x="6419088" y="676656"/>
            <a:ext cx="5138928" cy="5166360"/>
          </a:xfrm>
          <a:prstGeom prst="roundRect">
            <a:avLst>
              <a:gd name="adj" fmla="val 2135"/>
            </a:avLst>
          </a:prstGeom>
          <a:solidFill>
            <a:srgbClr val="FFFFFF">
              <a:alpha val="0"/>
            </a:srgbClr>
          </a:solidFill>
          <a:ln w="10160">
            <a:solidFill>
              <a:srgbClr val="566074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0"/>
          <p:cNvSpPr txBox="1"/>
          <p:nvPr/>
        </p:nvSpPr>
        <p:spPr>
          <a:xfrm>
            <a:off x="6519672" y="6044184"/>
            <a:ext cx="4709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kern="0" spc="120" dirty="0">
                <a:solidFill>
                  <a:srgbClr val="F7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BODY → MIND → HABITS → GROWTH</a:t>
            </a:r>
            <a:endParaRPr lang="en-US" sz="1000" dirty="0"/>
          </a:p>
        </p:txBody>
      </p:sp>
      <p:sp>
        <p:nvSpPr>
          <p:cNvPr id="55" name="Text 51"/>
          <p:cNvSpPr txBox="1"/>
          <p:nvPr/>
        </p:nvSpPr>
        <p:spPr>
          <a:xfrm>
            <a:off x="11192256" y="6446520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737D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46720" y="-914400"/>
            <a:ext cx="4206240" cy="4206240"/>
          </a:xfrm>
          <a:prstGeom prst="ellipse">
            <a:avLst/>
          </a:prstGeom>
          <a:solidFill>
            <a:srgbClr val="FF4E98">
              <a:alpha val="10000"/>
            </a:srgbClr>
          </a:solidFill>
          <a:ln w="12700">
            <a:solidFill>
              <a:srgbClr val="FF4E9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1005840" y="4114800"/>
            <a:ext cx="3657600" cy="3657600"/>
          </a:xfrm>
          <a:prstGeom prst="ellipse">
            <a:avLst/>
          </a:prstGeom>
          <a:solidFill>
            <a:srgbClr val="59D9FF">
              <a:alpha val="8000"/>
            </a:srgbClr>
          </a:solidFill>
          <a:ln w="12700">
            <a:solidFill>
              <a:srgbClr val="59D9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658368" y="38404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b="1" kern="0" spc="170" dirty="0">
                <a:solidFill>
                  <a:srgbClr val="FFD5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/ CONTEXT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713232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F7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world is getting better at asking for help.</a:t>
            </a:r>
            <a:endParaRPr lang="en-US" sz="290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1426464"/>
            <a:ext cx="10058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20" dirty="0">
                <a:solidFill>
                  <a:srgbClr val="AAB2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Approaching therapists and actually doing something about your mental health became mainstream. Mental wellbeing is becoming easier to talk about. The self-help and support space is expanding — but the ecosystem is still fragmented.</a:t>
            </a:r>
            <a:endParaRPr lang="en-US" sz="1520" dirty="0"/>
          </a:p>
        </p:txBody>
      </p:sp>
      <p:sp>
        <p:nvSpPr>
          <p:cNvPr id="7" name="Shape 5"/>
          <p:cNvSpPr/>
          <p:nvPr/>
        </p:nvSpPr>
        <p:spPr>
          <a:xfrm>
            <a:off x="6473952" y="2468880"/>
            <a:ext cx="4590288" cy="658368"/>
          </a:xfrm>
          <a:prstGeom prst="roundRect">
            <a:avLst>
              <a:gd name="adj" fmla="val 16667"/>
            </a:avLst>
          </a:prstGeom>
          <a:solidFill>
            <a:srgbClr val="101522"/>
          </a:solidFill>
          <a:ln w="8890">
            <a:solidFill>
              <a:srgbClr val="2A3346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638544" y="2633472"/>
            <a:ext cx="246888" cy="246888"/>
          </a:xfrm>
          <a:prstGeom prst="ellipse">
            <a:avLst/>
          </a:prstGeom>
          <a:solidFill>
            <a:srgbClr val="59D9FF"/>
          </a:solidFill>
          <a:ln w="12700">
            <a:solidFill>
              <a:srgbClr val="59D9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6638544" y="2683764"/>
            <a:ext cx="2468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6976872" y="2615184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30" b="1" dirty="0">
                <a:solidFill>
                  <a:srgbClr val="F7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PHYSICAL FITNESS</a:t>
            </a:r>
            <a:endParaRPr lang="en-US" sz="1230" dirty="0"/>
          </a:p>
        </p:txBody>
      </p:sp>
      <p:sp>
        <p:nvSpPr>
          <p:cNvPr id="11" name="Text 9"/>
          <p:cNvSpPr txBox="1"/>
          <p:nvPr/>
        </p:nvSpPr>
        <p:spPr>
          <a:xfrm>
            <a:off x="6976872" y="2875316"/>
            <a:ext cx="3931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AAB2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classes • training • progress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6473952" y="3264408"/>
            <a:ext cx="4590288" cy="658368"/>
          </a:xfrm>
          <a:prstGeom prst="roundRect">
            <a:avLst>
              <a:gd name="adj" fmla="val 16667"/>
            </a:avLst>
          </a:prstGeom>
          <a:solidFill>
            <a:srgbClr val="101522"/>
          </a:solidFill>
          <a:ln w="8890">
            <a:solidFill>
              <a:srgbClr val="2A3346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638544" y="3429000"/>
            <a:ext cx="246888" cy="246888"/>
          </a:xfrm>
          <a:prstGeom prst="ellipse">
            <a:avLst/>
          </a:prstGeom>
          <a:solidFill>
            <a:srgbClr val="FFD51E"/>
          </a:solidFill>
          <a:ln w="12700">
            <a:solidFill>
              <a:srgbClr val="FFD51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6638544" y="3479292"/>
            <a:ext cx="2468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50" dirty="0"/>
          </a:p>
        </p:txBody>
      </p:sp>
      <p:sp>
        <p:nvSpPr>
          <p:cNvPr id="15" name="Text 13"/>
          <p:cNvSpPr txBox="1"/>
          <p:nvPr/>
        </p:nvSpPr>
        <p:spPr>
          <a:xfrm>
            <a:off x="6976872" y="3410712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30" b="1" dirty="0">
                <a:solidFill>
                  <a:srgbClr val="F7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SELF-HELP</a:t>
            </a:r>
            <a:endParaRPr lang="en-US" sz="1230" dirty="0"/>
          </a:p>
        </p:txBody>
      </p:sp>
      <p:sp>
        <p:nvSpPr>
          <p:cNvPr id="16" name="Text 14"/>
          <p:cNvSpPr txBox="1"/>
          <p:nvPr/>
        </p:nvSpPr>
        <p:spPr>
          <a:xfrm>
            <a:off x="6976872" y="3680932"/>
            <a:ext cx="3931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AAB2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meditation • reflection • habits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6473952" y="4059936"/>
            <a:ext cx="4590288" cy="658368"/>
          </a:xfrm>
          <a:prstGeom prst="roundRect">
            <a:avLst>
              <a:gd name="adj" fmla="val 16667"/>
            </a:avLst>
          </a:prstGeom>
          <a:solidFill>
            <a:srgbClr val="101522"/>
          </a:solidFill>
          <a:ln w="8890">
            <a:solidFill>
              <a:srgbClr val="2A3346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638544" y="4224528"/>
            <a:ext cx="246888" cy="246888"/>
          </a:xfrm>
          <a:prstGeom prst="ellipse">
            <a:avLst/>
          </a:prstGeom>
          <a:solidFill>
            <a:srgbClr val="FF4E98"/>
          </a:solidFill>
          <a:ln w="12700">
            <a:solidFill>
              <a:srgbClr val="FF4E9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6638544" y="4270248"/>
            <a:ext cx="2468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50" dirty="0"/>
          </a:p>
        </p:txBody>
      </p:sp>
      <p:sp>
        <p:nvSpPr>
          <p:cNvPr id="20" name="Text 18"/>
          <p:cNvSpPr txBox="1"/>
          <p:nvPr/>
        </p:nvSpPr>
        <p:spPr>
          <a:xfrm>
            <a:off x="6976872" y="4206240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30" b="1" dirty="0">
                <a:solidFill>
                  <a:srgbClr val="F7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 SUPPORT</a:t>
            </a:r>
            <a:endParaRPr lang="en-US" sz="1230" dirty="0"/>
          </a:p>
        </p:txBody>
      </p:sp>
      <p:sp>
        <p:nvSpPr>
          <p:cNvPr id="21" name="Text 19"/>
          <p:cNvSpPr txBox="1"/>
          <p:nvPr/>
        </p:nvSpPr>
        <p:spPr>
          <a:xfrm>
            <a:off x="6976872" y="4475725"/>
            <a:ext cx="3931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AAB2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specialists • therapy • continuity</a:t>
            </a:r>
            <a:endParaRPr lang="en-US" sz="1080" dirty="0"/>
          </a:p>
        </p:txBody>
      </p:sp>
      <p:sp>
        <p:nvSpPr>
          <p:cNvPr id="22" name="Shape 20"/>
          <p:cNvSpPr/>
          <p:nvPr/>
        </p:nvSpPr>
        <p:spPr>
          <a:xfrm>
            <a:off x="6473952" y="4855464"/>
            <a:ext cx="4590288" cy="658368"/>
          </a:xfrm>
          <a:prstGeom prst="roundRect">
            <a:avLst>
              <a:gd name="adj" fmla="val 16667"/>
            </a:avLst>
          </a:prstGeom>
          <a:solidFill>
            <a:srgbClr val="101522"/>
          </a:solidFill>
          <a:ln w="8890">
            <a:solidFill>
              <a:srgbClr val="2A3346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638544" y="5020056"/>
            <a:ext cx="246888" cy="246888"/>
          </a:xfrm>
          <a:prstGeom prst="ellipse">
            <a:avLst/>
          </a:prstGeom>
          <a:solidFill>
            <a:srgbClr val="57E3B1"/>
          </a:solidFill>
          <a:ln w="12700">
            <a:solidFill>
              <a:srgbClr val="57E3B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6638544" y="5074920"/>
            <a:ext cx="2468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50" dirty="0"/>
          </a:p>
        </p:txBody>
      </p:sp>
      <p:sp>
        <p:nvSpPr>
          <p:cNvPr id="25" name="Text 23"/>
          <p:cNvSpPr txBox="1"/>
          <p:nvPr/>
        </p:nvSpPr>
        <p:spPr>
          <a:xfrm>
            <a:off x="6976872" y="5001768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30" b="1" dirty="0">
                <a:solidFill>
                  <a:srgbClr val="F7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WELLNESS TRACKING</a:t>
            </a:r>
            <a:endParaRPr lang="en-US" sz="1230" dirty="0"/>
          </a:p>
        </p:txBody>
      </p:sp>
      <p:sp>
        <p:nvSpPr>
          <p:cNvPr id="26" name="Text 24"/>
          <p:cNvSpPr txBox="1"/>
          <p:nvPr/>
        </p:nvSpPr>
        <p:spPr>
          <a:xfrm>
            <a:off x="6976872" y="5266944"/>
            <a:ext cx="3931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AAB2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mood • sleep • activity</a:t>
            </a:r>
            <a:endParaRPr lang="en-US" sz="1080" dirty="0"/>
          </a:p>
        </p:txBody>
      </p:sp>
      <p:sp>
        <p:nvSpPr>
          <p:cNvPr id="27" name="Text 25"/>
          <p:cNvSpPr txBox="1"/>
          <p:nvPr/>
        </p:nvSpPr>
        <p:spPr>
          <a:xfrm>
            <a:off x="731520" y="2532888"/>
            <a:ext cx="3291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D5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3800" dirty="0"/>
          </a:p>
        </p:txBody>
      </p:sp>
      <p:sp>
        <p:nvSpPr>
          <p:cNvPr id="28" name="Text 26"/>
          <p:cNvSpPr txBox="1"/>
          <p:nvPr/>
        </p:nvSpPr>
        <p:spPr>
          <a:xfrm>
            <a:off x="1124712" y="2542032"/>
            <a:ext cx="468172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7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 have more access, information, self-help resources and professional support than previous generations.</a:t>
            </a:r>
            <a:endParaRPr lang="en-US" sz="2200" dirty="0"/>
          </a:p>
        </p:txBody>
      </p:sp>
      <p:sp>
        <p:nvSpPr>
          <p:cNvPr id="29" name="Text 27"/>
          <p:cNvSpPr txBox="1"/>
          <p:nvPr/>
        </p:nvSpPr>
        <p:spPr>
          <a:xfrm>
            <a:off x="749808" y="3986784"/>
            <a:ext cx="499262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7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 WHY SHOULD CULT.FIT LIMIT ITSELF TO JUST PHYSICAL FITNESS?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749808" y="5074920"/>
            <a:ext cx="2423160" cy="246888"/>
          </a:xfrm>
          <a:prstGeom prst="roundRect">
            <a:avLst>
              <a:gd name="adj" fmla="val 51852"/>
            </a:avLst>
          </a:prstGeom>
          <a:solidFill>
            <a:srgbClr val="141B29"/>
          </a:solidFill>
          <a:ln w="8890">
            <a:solidFill>
              <a:srgbClr val="2A3346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 txBox="1"/>
          <p:nvPr/>
        </p:nvSpPr>
        <p:spPr>
          <a:xfrm>
            <a:off x="822960" y="5088636"/>
            <a:ext cx="2276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kern="0" spc="60" dirty="0">
                <a:solidFill>
                  <a:srgbClr val="FFD5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FRAGMENTED → CONNECTED</a:t>
            </a:r>
            <a:endParaRPr lang="en-US" sz="920" dirty="0"/>
          </a:p>
        </p:txBody>
      </p:sp>
      <p:sp>
        <p:nvSpPr>
          <p:cNvPr id="34" name="Text 32"/>
          <p:cNvSpPr txBox="1"/>
          <p:nvPr/>
        </p:nvSpPr>
        <p:spPr>
          <a:xfrm>
            <a:off x="11192256" y="6446520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737D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50" dirty="0"/>
          </a:p>
        </p:txBody>
      </p:sp>
    </p:spTree>
  </p:cSld>
  <p:clrMapOvr>
    <a:masterClrMapping/>
  </p:clrMapOvr>
  <p:transition>
    <p:push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-914400"/>
            <a:ext cx="4114800" cy="4114800"/>
          </a:xfrm>
          <a:prstGeom prst="ellipse">
            <a:avLst/>
          </a:prstGeom>
          <a:solidFill>
            <a:srgbClr val="59D9FF">
              <a:alpha val="9000"/>
            </a:srgbClr>
          </a:solidFill>
          <a:ln w="12700">
            <a:solidFill>
              <a:srgbClr val="59D9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389120" y="4389120"/>
            <a:ext cx="3657600" cy="3657600"/>
          </a:xfrm>
          <a:prstGeom prst="ellipse">
            <a:avLst/>
          </a:prstGeom>
          <a:solidFill>
            <a:srgbClr val="FFD51E">
              <a:alpha val="6000"/>
            </a:srgbClr>
          </a:solidFill>
          <a:ln w="12700">
            <a:solidFill>
              <a:srgbClr val="FFD51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658368" y="38404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b="1" kern="0" spc="170" dirty="0">
                <a:solidFill>
                  <a:srgbClr val="FFD5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/ OPPORTUNITY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713232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F7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if fitness wasn’t just physical?</a:t>
            </a:r>
            <a:endParaRPr lang="en-US" sz="290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1426464"/>
            <a:ext cx="10058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20" dirty="0">
                <a:solidFill>
                  <a:srgbClr val="AAB2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cult.fit already has permission to talk to people about improvement. The opportunity is to extend that relationship from physical fitness → mental fitness.</a:t>
            </a:r>
            <a:endParaRPr lang="en-US" sz="1520" dirty="0"/>
          </a:p>
        </p:txBody>
      </p:sp>
      <p:sp>
        <p:nvSpPr>
          <p:cNvPr id="7" name="Shape 5"/>
          <p:cNvSpPr/>
          <p:nvPr/>
        </p:nvSpPr>
        <p:spPr>
          <a:xfrm>
            <a:off x="868680" y="2743200"/>
            <a:ext cx="2743200" cy="1700784"/>
          </a:xfrm>
          <a:prstGeom prst="roundRect">
            <a:avLst>
              <a:gd name="adj" fmla="val 9677"/>
            </a:avLst>
          </a:prstGeom>
          <a:solidFill>
            <a:srgbClr val="101522"/>
          </a:solidFill>
          <a:ln w="13970">
            <a:solidFill>
              <a:srgbClr val="59D9FF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051560" y="2889504"/>
            <a:ext cx="731520" cy="246888"/>
          </a:xfrm>
          <a:prstGeom prst="roundRect">
            <a:avLst>
              <a:gd name="adj" fmla="val 51852"/>
            </a:avLst>
          </a:prstGeom>
          <a:solidFill>
            <a:srgbClr val="59D9FF"/>
          </a:solidFill>
          <a:ln w="8890">
            <a:solidFill>
              <a:srgbClr val="59D9FF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1124712" y="2903220"/>
            <a:ext cx="585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kern="0" spc="6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TODAY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1051560" y="3300984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7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Workout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370332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AAB2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physical progress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685032" y="3593592"/>
            <a:ext cx="411480" cy="0"/>
          </a:xfrm>
          <a:prstGeom prst="line">
            <a:avLst/>
          </a:prstGeom>
          <a:noFill/>
          <a:ln w="15875">
            <a:solidFill>
              <a:srgbClr val="F7F8FA">
                <a:alpha val="85000"/>
              </a:srgbClr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187952" y="2743200"/>
            <a:ext cx="2743200" cy="1700784"/>
          </a:xfrm>
          <a:prstGeom prst="roundRect">
            <a:avLst>
              <a:gd name="adj" fmla="val 9677"/>
            </a:avLst>
          </a:prstGeom>
          <a:solidFill>
            <a:srgbClr val="101522"/>
          </a:solidFill>
          <a:ln w="13970">
            <a:solidFill>
              <a:srgbClr val="FF4E98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370832" y="2889504"/>
            <a:ext cx="731520" cy="246888"/>
          </a:xfrm>
          <a:prstGeom prst="roundRect">
            <a:avLst>
              <a:gd name="adj" fmla="val 51852"/>
            </a:avLst>
          </a:prstGeom>
          <a:solidFill>
            <a:srgbClr val="FF4E98"/>
          </a:solidFill>
          <a:ln w="8890">
            <a:solidFill>
              <a:srgbClr val="FF4E98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4443984" y="2903220"/>
            <a:ext cx="585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kern="0" spc="6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</a:t>
            </a:r>
            <a:endParaRPr lang="en-US" sz="850" dirty="0"/>
          </a:p>
        </p:txBody>
      </p:sp>
      <p:sp>
        <p:nvSpPr>
          <p:cNvPr id="16" name="Text 14"/>
          <p:cNvSpPr txBox="1"/>
          <p:nvPr/>
        </p:nvSpPr>
        <p:spPr>
          <a:xfrm>
            <a:off x="4370832" y="3300984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7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Mind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4370832" y="370332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AAB2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emotional wellbeing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004304" y="3593592"/>
            <a:ext cx="402336" cy="0"/>
          </a:xfrm>
          <a:prstGeom prst="line">
            <a:avLst/>
          </a:prstGeom>
          <a:noFill/>
          <a:ln w="15875">
            <a:solidFill>
              <a:srgbClr val="F7F8FA">
                <a:alpha val="85000"/>
              </a:srgbClr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498080" y="2743200"/>
            <a:ext cx="2743200" cy="1700784"/>
          </a:xfrm>
          <a:prstGeom prst="roundRect">
            <a:avLst>
              <a:gd name="adj" fmla="val 9677"/>
            </a:avLst>
          </a:prstGeom>
          <a:solidFill>
            <a:srgbClr val="101522"/>
          </a:solidFill>
          <a:ln w="13970">
            <a:solidFill>
              <a:srgbClr val="FFD51E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680960" y="2889504"/>
            <a:ext cx="731520" cy="246888"/>
          </a:xfrm>
          <a:prstGeom prst="roundRect">
            <a:avLst>
              <a:gd name="adj" fmla="val 51852"/>
            </a:avLst>
          </a:prstGeom>
          <a:solidFill>
            <a:srgbClr val="FFD51E"/>
          </a:solidFill>
          <a:ln w="8890">
            <a:solidFill>
              <a:srgbClr val="FFD51E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7754112" y="2903220"/>
            <a:ext cx="60769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kern="0" spc="6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TOGETHER</a:t>
            </a:r>
            <a:endParaRPr lang="en-US" sz="850" dirty="0"/>
          </a:p>
        </p:txBody>
      </p:sp>
      <p:sp>
        <p:nvSpPr>
          <p:cNvPr id="22" name="Text 20"/>
          <p:cNvSpPr txBox="1"/>
          <p:nvPr/>
        </p:nvSpPr>
        <p:spPr>
          <a:xfrm>
            <a:off x="7680960" y="3300984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7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One ecosystem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7680960" y="370332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AAB2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continuous support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877824" y="4919472"/>
            <a:ext cx="6638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kern="0" spc="100" dirty="0">
                <a:solidFill>
                  <a:srgbClr val="FFD5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THERAPY ACCESS  +  WELLNESS TRACKING  +  GUIDED CONTENT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877824" y="5276088"/>
            <a:ext cx="7178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7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becomes part of the same ecosystem rather than a separate experience.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8055864" y="4681728"/>
            <a:ext cx="2935224" cy="804671"/>
          </a:xfrm>
          <a:prstGeom prst="roundRect">
            <a:avLst>
              <a:gd name="adj" fmla="val 13636"/>
            </a:avLst>
          </a:prstGeom>
          <a:solidFill>
            <a:srgbClr val="141B29"/>
          </a:solidFill>
          <a:ln w="8890">
            <a:solidFill>
              <a:srgbClr val="2A3346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 txBox="1"/>
          <p:nvPr/>
        </p:nvSpPr>
        <p:spPr>
          <a:xfrm>
            <a:off x="8361802" y="4846320"/>
            <a:ext cx="2331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kern="0" spc="120" dirty="0">
                <a:solidFill>
                  <a:srgbClr val="737D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CORE MOVE</a:t>
            </a:r>
            <a:endParaRPr lang="en-US" sz="850" dirty="0"/>
          </a:p>
        </p:txBody>
      </p:sp>
      <p:sp>
        <p:nvSpPr>
          <p:cNvPr id="28" name="Text 26"/>
          <p:cNvSpPr txBox="1"/>
          <p:nvPr/>
        </p:nvSpPr>
        <p:spPr>
          <a:xfrm>
            <a:off x="8186615" y="5102352"/>
            <a:ext cx="267372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F7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Physical → Mental → Continuous care</a:t>
            </a:r>
            <a:endParaRPr lang="en-US" sz="1320" dirty="0"/>
          </a:p>
        </p:txBody>
      </p:sp>
      <p:sp>
        <p:nvSpPr>
          <p:cNvPr id="31" name="Text 29"/>
          <p:cNvSpPr txBox="1"/>
          <p:nvPr/>
        </p:nvSpPr>
        <p:spPr>
          <a:xfrm>
            <a:off x="11192256" y="6446520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737D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50" dirty="0"/>
          </a:p>
        </p:txBody>
      </p:sp>
    </p:spTree>
  </p:cSld>
  <p:clrMapOvr>
    <a:masterClrMapping/>
  </p:clrMapOvr>
  <p:transition>
    <p:push dir="r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-1005840"/>
            <a:ext cx="4206240" cy="4206240"/>
          </a:xfrm>
          <a:prstGeom prst="ellipse">
            <a:avLst/>
          </a:prstGeom>
          <a:solidFill>
            <a:srgbClr val="FF4E98">
              <a:alpha val="9000"/>
            </a:srgbClr>
          </a:solidFill>
          <a:ln w="12700">
            <a:solidFill>
              <a:srgbClr val="FF4E9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959249" y="4396522"/>
            <a:ext cx="3474720" cy="3474720"/>
          </a:xfrm>
          <a:prstGeom prst="ellipse">
            <a:avLst/>
          </a:prstGeom>
          <a:solidFill>
            <a:srgbClr val="59D9FF">
              <a:alpha val="7000"/>
            </a:srgbClr>
          </a:solidFill>
          <a:ln w="12700">
            <a:solidFill>
              <a:srgbClr val="59D9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658368" y="38404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b="1" kern="0" spc="170" dirty="0">
                <a:solidFill>
                  <a:srgbClr val="FFD5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/ BRAND EXTENSION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713232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F7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 didn’t build a new brand. We extended one.</a:t>
            </a:r>
            <a:endParaRPr lang="en-US" sz="290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1426464"/>
            <a:ext cx="10058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20" dirty="0">
                <a:solidFill>
                  <a:srgbClr val="AAB2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experience, familiar ecosystem. The design keeps recognizable cult.fit cues while changing the emotional state of the interface.</a:t>
            </a:r>
            <a:endParaRPr lang="en-US" sz="1520" dirty="0"/>
          </a:p>
        </p:txBody>
      </p:sp>
      <p:sp>
        <p:nvSpPr>
          <p:cNvPr id="7" name="Shape 5"/>
          <p:cNvSpPr/>
          <p:nvPr/>
        </p:nvSpPr>
        <p:spPr>
          <a:xfrm>
            <a:off x="749808" y="2542032"/>
            <a:ext cx="1993392" cy="896112"/>
          </a:xfrm>
          <a:prstGeom prst="roundRect">
            <a:avLst>
              <a:gd name="adj" fmla="val 14286"/>
            </a:avLst>
          </a:prstGeom>
          <a:solidFill>
            <a:srgbClr val="101522"/>
          </a:solidFill>
          <a:ln w="8890">
            <a:solidFill>
              <a:srgbClr val="59D9F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914400" y="2715768"/>
            <a:ext cx="173736" cy="173736"/>
          </a:xfrm>
          <a:prstGeom prst="ellipse">
            <a:avLst/>
          </a:prstGeom>
          <a:solidFill>
            <a:srgbClr val="59D9FF"/>
          </a:solidFill>
          <a:ln w="12700">
            <a:solidFill>
              <a:srgbClr val="59D9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1165860" y="2711196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40" b="1" kern="0" spc="70" dirty="0">
                <a:solidFill>
                  <a:srgbClr val="F7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LOGO</a:t>
            </a:r>
            <a:endParaRPr lang="en-US" sz="94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2980944"/>
            <a:ext cx="1664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40" dirty="0">
                <a:solidFill>
                  <a:srgbClr val="AAB2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retain recognition</a:t>
            </a:r>
            <a:endParaRPr lang="en-US" sz="1140" dirty="0"/>
          </a:p>
        </p:txBody>
      </p:sp>
      <p:sp>
        <p:nvSpPr>
          <p:cNvPr id="11" name="Shape 9"/>
          <p:cNvSpPr/>
          <p:nvPr/>
        </p:nvSpPr>
        <p:spPr>
          <a:xfrm>
            <a:off x="3127248" y="2542032"/>
            <a:ext cx="1993392" cy="896112"/>
          </a:xfrm>
          <a:prstGeom prst="roundRect">
            <a:avLst>
              <a:gd name="adj" fmla="val 14286"/>
            </a:avLst>
          </a:prstGeom>
          <a:solidFill>
            <a:srgbClr val="101522"/>
          </a:solidFill>
          <a:ln w="8890">
            <a:solidFill>
              <a:srgbClr val="FFD51E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291840" y="2715768"/>
            <a:ext cx="173736" cy="173736"/>
          </a:xfrm>
          <a:prstGeom prst="ellipse">
            <a:avLst/>
          </a:prstGeom>
          <a:solidFill>
            <a:srgbClr val="FFD51E"/>
          </a:solidFill>
          <a:ln w="12700">
            <a:solidFill>
              <a:srgbClr val="FFD51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3566160" y="2689325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40" b="1" kern="0" spc="70" dirty="0">
                <a:solidFill>
                  <a:srgbClr val="F7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COLOUR</a:t>
            </a:r>
            <a:endParaRPr lang="en-US" sz="940" dirty="0"/>
          </a:p>
        </p:txBody>
      </p:sp>
      <p:sp>
        <p:nvSpPr>
          <p:cNvPr id="14" name="Text 12"/>
          <p:cNvSpPr txBox="1"/>
          <p:nvPr/>
        </p:nvSpPr>
        <p:spPr>
          <a:xfrm>
            <a:off x="3291840" y="2980944"/>
            <a:ext cx="1664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40" dirty="0">
                <a:solidFill>
                  <a:srgbClr val="AAB2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energetic accents</a:t>
            </a:r>
            <a:endParaRPr lang="en-US" sz="1140" dirty="0"/>
          </a:p>
        </p:txBody>
      </p:sp>
      <p:sp>
        <p:nvSpPr>
          <p:cNvPr id="15" name="Shape 13"/>
          <p:cNvSpPr/>
          <p:nvPr/>
        </p:nvSpPr>
        <p:spPr>
          <a:xfrm>
            <a:off x="749808" y="3749040"/>
            <a:ext cx="1993392" cy="896112"/>
          </a:xfrm>
          <a:prstGeom prst="roundRect">
            <a:avLst>
              <a:gd name="adj" fmla="val 14286"/>
            </a:avLst>
          </a:prstGeom>
          <a:solidFill>
            <a:srgbClr val="101522"/>
          </a:solidFill>
          <a:ln w="8890">
            <a:solidFill>
              <a:srgbClr val="FF4E98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914400" y="3922776"/>
            <a:ext cx="173736" cy="173736"/>
          </a:xfrm>
          <a:prstGeom prst="ellipse">
            <a:avLst/>
          </a:prstGeom>
          <a:solidFill>
            <a:srgbClr val="FF4E98"/>
          </a:solidFill>
          <a:ln w="12700">
            <a:solidFill>
              <a:srgbClr val="FF4E9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1188720" y="3911237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40" b="1" kern="0" spc="70" dirty="0">
                <a:solidFill>
                  <a:srgbClr val="F7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BOOKING</a:t>
            </a:r>
            <a:endParaRPr lang="en-US" sz="940" dirty="0"/>
          </a:p>
        </p:txBody>
      </p:sp>
      <p:sp>
        <p:nvSpPr>
          <p:cNvPr id="18" name="Text 16"/>
          <p:cNvSpPr txBox="1"/>
          <p:nvPr/>
        </p:nvSpPr>
        <p:spPr>
          <a:xfrm>
            <a:off x="914400" y="4187952"/>
            <a:ext cx="1664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40" dirty="0">
                <a:solidFill>
                  <a:srgbClr val="AAB2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familiar interaction</a:t>
            </a:r>
            <a:endParaRPr lang="en-US" sz="1140" dirty="0"/>
          </a:p>
        </p:txBody>
      </p:sp>
      <p:sp>
        <p:nvSpPr>
          <p:cNvPr id="19" name="Shape 17"/>
          <p:cNvSpPr/>
          <p:nvPr/>
        </p:nvSpPr>
        <p:spPr>
          <a:xfrm>
            <a:off x="3127248" y="3749040"/>
            <a:ext cx="1993392" cy="896112"/>
          </a:xfrm>
          <a:prstGeom prst="roundRect">
            <a:avLst>
              <a:gd name="adj" fmla="val 14286"/>
            </a:avLst>
          </a:prstGeom>
          <a:solidFill>
            <a:srgbClr val="101522"/>
          </a:solidFill>
          <a:ln w="8890">
            <a:solidFill>
              <a:srgbClr val="57E3B1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291840" y="3922776"/>
            <a:ext cx="173736" cy="173736"/>
          </a:xfrm>
          <a:prstGeom prst="ellipse">
            <a:avLst/>
          </a:prstGeom>
          <a:solidFill>
            <a:srgbClr val="57E3B1"/>
          </a:solidFill>
          <a:ln w="12700">
            <a:solidFill>
              <a:srgbClr val="57E3B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3566160" y="3911237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40" b="1" kern="0" spc="70" dirty="0">
                <a:solidFill>
                  <a:srgbClr val="F7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TRACKING</a:t>
            </a:r>
            <a:endParaRPr lang="en-US" sz="940" dirty="0"/>
          </a:p>
        </p:txBody>
      </p:sp>
      <p:sp>
        <p:nvSpPr>
          <p:cNvPr id="22" name="Text 20"/>
          <p:cNvSpPr txBox="1"/>
          <p:nvPr/>
        </p:nvSpPr>
        <p:spPr>
          <a:xfrm>
            <a:off x="3291840" y="4187952"/>
            <a:ext cx="1664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40" dirty="0">
                <a:solidFill>
                  <a:srgbClr val="AAB2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physical → mental</a:t>
            </a:r>
            <a:endParaRPr lang="en-US" sz="1140" dirty="0"/>
          </a:p>
        </p:txBody>
      </p:sp>
      <p:sp>
        <p:nvSpPr>
          <p:cNvPr id="23" name="Shape 21"/>
          <p:cNvSpPr/>
          <p:nvPr/>
        </p:nvSpPr>
        <p:spPr>
          <a:xfrm>
            <a:off x="6419088" y="2487168"/>
            <a:ext cx="4800600" cy="3401568"/>
          </a:xfrm>
          <a:prstGeom prst="roundRect">
            <a:avLst>
              <a:gd name="adj" fmla="val 4839"/>
            </a:avLst>
          </a:prstGeom>
          <a:solidFill>
            <a:srgbClr val="101522"/>
          </a:solidFill>
          <a:ln w="8890">
            <a:solidFill>
              <a:srgbClr val="2A3346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6638544" y="2724912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140" dirty="0">
                <a:solidFill>
                  <a:srgbClr val="FFD5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 PHILOSOPHY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406640" y="3337560"/>
            <a:ext cx="310896" cy="310896"/>
          </a:xfrm>
          <a:prstGeom prst="ellipse">
            <a:avLst/>
          </a:prstGeom>
          <a:solidFill>
            <a:srgbClr val="59D9FF"/>
          </a:solidFill>
          <a:ln w="12700">
            <a:solidFill>
              <a:srgbClr val="59D9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 txBox="1"/>
          <p:nvPr/>
        </p:nvSpPr>
        <p:spPr>
          <a:xfrm>
            <a:off x="7260336" y="3703320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7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HELP</a:t>
            </a:r>
            <a:endParaRPr lang="en-US" sz="820" dirty="0"/>
          </a:p>
        </p:txBody>
      </p:sp>
      <p:sp>
        <p:nvSpPr>
          <p:cNvPr id="27" name="Shape 25"/>
          <p:cNvSpPr/>
          <p:nvPr/>
        </p:nvSpPr>
        <p:spPr>
          <a:xfrm>
            <a:off x="9372600" y="3337560"/>
            <a:ext cx="310896" cy="310896"/>
          </a:xfrm>
          <a:prstGeom prst="ellipse">
            <a:avLst/>
          </a:prstGeom>
          <a:solidFill>
            <a:srgbClr val="57E3B1"/>
          </a:solidFill>
          <a:ln w="12700">
            <a:solidFill>
              <a:srgbClr val="57E3B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 txBox="1"/>
          <p:nvPr/>
        </p:nvSpPr>
        <p:spPr>
          <a:xfrm>
            <a:off x="9226296" y="3703320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7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ACCESS</a:t>
            </a:r>
            <a:endParaRPr lang="en-US" sz="820" dirty="0"/>
          </a:p>
        </p:txBody>
      </p:sp>
      <p:sp>
        <p:nvSpPr>
          <p:cNvPr id="29" name="Shape 27"/>
          <p:cNvSpPr/>
          <p:nvPr/>
        </p:nvSpPr>
        <p:spPr>
          <a:xfrm>
            <a:off x="10168128" y="4251960"/>
            <a:ext cx="310896" cy="310896"/>
          </a:xfrm>
          <a:prstGeom prst="ellipse">
            <a:avLst/>
          </a:prstGeom>
          <a:solidFill>
            <a:srgbClr val="FFD51E"/>
          </a:solidFill>
          <a:ln w="12700">
            <a:solidFill>
              <a:srgbClr val="FFD51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 txBox="1"/>
          <p:nvPr/>
        </p:nvSpPr>
        <p:spPr>
          <a:xfrm>
            <a:off x="10021824" y="4617720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7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GROW</a:t>
            </a:r>
            <a:endParaRPr lang="en-US" sz="820" dirty="0"/>
          </a:p>
        </p:txBody>
      </p:sp>
      <p:sp>
        <p:nvSpPr>
          <p:cNvPr id="31" name="Shape 29"/>
          <p:cNvSpPr/>
          <p:nvPr/>
        </p:nvSpPr>
        <p:spPr>
          <a:xfrm>
            <a:off x="8796528" y="4901184"/>
            <a:ext cx="310896" cy="310896"/>
          </a:xfrm>
          <a:prstGeom prst="ellipse">
            <a:avLst/>
          </a:prstGeom>
          <a:solidFill>
            <a:srgbClr val="FF4E98"/>
          </a:solidFill>
          <a:ln w="12700">
            <a:solidFill>
              <a:srgbClr val="FF4E9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 txBox="1"/>
          <p:nvPr/>
        </p:nvSpPr>
        <p:spPr>
          <a:xfrm>
            <a:off x="8650224" y="5266944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7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TRACK</a:t>
            </a:r>
            <a:endParaRPr lang="en-US" sz="820" dirty="0"/>
          </a:p>
        </p:txBody>
      </p:sp>
      <p:sp>
        <p:nvSpPr>
          <p:cNvPr id="33" name="Shape 31"/>
          <p:cNvSpPr/>
          <p:nvPr/>
        </p:nvSpPr>
        <p:spPr>
          <a:xfrm>
            <a:off x="7717536" y="3493010"/>
            <a:ext cx="1655064" cy="0"/>
          </a:xfrm>
          <a:prstGeom prst="line">
            <a:avLst/>
          </a:prstGeom>
          <a:noFill/>
          <a:ln w="13970">
            <a:solidFill>
              <a:srgbClr val="2A3346">
                <a:alpha val="9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9683496" y="3570514"/>
            <a:ext cx="539496" cy="681446"/>
          </a:xfrm>
          <a:prstGeom prst="line">
            <a:avLst/>
          </a:prstGeom>
          <a:noFill/>
          <a:ln w="13970">
            <a:solidFill>
              <a:srgbClr val="2A3346">
                <a:alpha val="9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 flipH="1">
            <a:off x="9107424" y="4498849"/>
            <a:ext cx="1060704" cy="512061"/>
          </a:xfrm>
          <a:prstGeom prst="line">
            <a:avLst/>
          </a:prstGeom>
          <a:noFill/>
          <a:ln w="13970">
            <a:solidFill>
              <a:srgbClr val="2A3346">
                <a:alpha val="9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8595360" y="4910328"/>
            <a:ext cx="0" cy="0"/>
          </a:xfrm>
          <a:prstGeom prst="line">
            <a:avLst/>
          </a:prstGeom>
          <a:noFill/>
          <a:ln w="13970">
            <a:solidFill>
              <a:srgbClr val="2A3346">
                <a:alpha val="9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 txBox="1"/>
          <p:nvPr/>
        </p:nvSpPr>
        <p:spPr>
          <a:xfrm>
            <a:off x="6711696" y="5303520"/>
            <a:ext cx="3950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760" b="1" dirty="0">
                <a:solidFill>
                  <a:srgbClr val="F7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interface changes.</a:t>
            </a:r>
            <a:endParaRPr lang="en-US" sz="1760" dirty="0"/>
          </a:p>
        </p:txBody>
      </p:sp>
      <p:sp>
        <p:nvSpPr>
          <p:cNvPr id="38" name="Text 36"/>
          <p:cNvSpPr txBox="1"/>
          <p:nvPr/>
        </p:nvSpPr>
        <p:spPr>
          <a:xfrm>
            <a:off x="6711696" y="5577840"/>
            <a:ext cx="3950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760" b="1" dirty="0">
                <a:solidFill>
                  <a:srgbClr val="FFD51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ideology doesn’t.</a:t>
            </a:r>
            <a:endParaRPr lang="en-US" sz="1760" dirty="0"/>
          </a:p>
        </p:txBody>
      </p:sp>
      <p:sp>
        <p:nvSpPr>
          <p:cNvPr id="41" name="Text 39"/>
          <p:cNvSpPr txBox="1"/>
          <p:nvPr/>
        </p:nvSpPr>
        <p:spPr>
          <a:xfrm>
            <a:off x="11192256" y="6446520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737D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50" dirty="0"/>
          </a:p>
        </p:txBody>
      </p:sp>
    </p:spTree>
  </p:cSld>
  <p:clrMapOvr>
    <a:masterClrMapping/>
  </p:clrMapOvr>
  <p:transition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0" y="-1097280"/>
            <a:ext cx="4937760" cy="4937760"/>
          </a:xfrm>
          <a:prstGeom prst="ellipse">
            <a:avLst/>
          </a:prstGeom>
          <a:solidFill>
            <a:srgbClr val="59D9FF">
              <a:alpha val="8000"/>
            </a:srgbClr>
          </a:solidFill>
          <a:ln w="12700">
            <a:solidFill>
              <a:srgbClr val="59D9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914400" y="4023360"/>
            <a:ext cx="3840480" cy="3840480"/>
          </a:xfrm>
          <a:prstGeom prst="ellipse">
            <a:avLst/>
          </a:prstGeom>
          <a:solidFill>
            <a:srgbClr val="FF4E98">
              <a:alpha val="7000"/>
            </a:srgbClr>
          </a:solidFill>
          <a:ln w="12700">
            <a:solidFill>
              <a:srgbClr val="FF4E9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658368" y="38404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b="1" kern="0" spc="170" dirty="0">
                <a:solidFill>
                  <a:srgbClr val="FFD5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/ DESIGN CHALLENGE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713232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F7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Same philosophy. Different state of mind.</a:t>
            </a:r>
            <a:endParaRPr lang="en-US" sz="290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1426464"/>
            <a:ext cx="10058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20" dirty="0">
                <a:solidFill>
                  <a:srgbClr val="AAB2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Physical fitness can be energetic and performance-oriented. Mental wellbeing sometimes needs space, control, clarity and reduced stimulation.</a:t>
            </a:r>
            <a:endParaRPr lang="en-US" sz="152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2395728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110" dirty="0">
                <a:solidFill>
                  <a:srgbClr val="FFD5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ENERGY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0716768" y="2395728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b="1" kern="0" spc="110" dirty="0">
                <a:solidFill>
                  <a:srgbClr val="59D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CALM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32688" y="2852928"/>
            <a:ext cx="10259568" cy="0"/>
          </a:xfrm>
          <a:prstGeom prst="line">
            <a:avLst/>
          </a:prstGeom>
          <a:noFill/>
          <a:ln w="27940">
            <a:solidFill>
              <a:srgbClr val="2A3346">
                <a:alpha val="95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051560" y="2743200"/>
            <a:ext cx="201168" cy="201168"/>
          </a:xfrm>
          <a:prstGeom prst="ellipse">
            <a:avLst/>
          </a:prstGeom>
          <a:solidFill>
            <a:srgbClr val="FFD51E"/>
          </a:solidFill>
          <a:ln w="12700">
            <a:solidFill>
              <a:srgbClr val="FFD51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978408" y="2670048"/>
            <a:ext cx="347472" cy="347472"/>
          </a:xfrm>
          <a:prstGeom prst="ellipse">
            <a:avLst/>
          </a:prstGeom>
          <a:solidFill>
            <a:srgbClr val="FFD51E">
              <a:alpha val="12000"/>
            </a:srgbClr>
          </a:solidFill>
          <a:ln w="12700">
            <a:solidFill>
              <a:srgbClr val="FFD51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788920" y="2743200"/>
            <a:ext cx="201168" cy="201168"/>
          </a:xfrm>
          <a:prstGeom prst="ellipse">
            <a:avLst/>
          </a:prstGeom>
          <a:solidFill>
            <a:srgbClr val="59D9FF"/>
          </a:solidFill>
          <a:ln w="12700">
            <a:solidFill>
              <a:srgbClr val="59D9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715768" y="2670048"/>
            <a:ext cx="347472" cy="347472"/>
          </a:xfrm>
          <a:prstGeom prst="ellipse">
            <a:avLst/>
          </a:prstGeom>
          <a:solidFill>
            <a:srgbClr val="59D9FF">
              <a:alpha val="12000"/>
            </a:srgbClr>
          </a:solidFill>
          <a:ln w="12700">
            <a:solidFill>
              <a:srgbClr val="59D9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480560" y="2743200"/>
            <a:ext cx="201168" cy="201168"/>
          </a:xfrm>
          <a:prstGeom prst="ellipse">
            <a:avLst/>
          </a:prstGeom>
          <a:solidFill>
            <a:srgbClr val="FF4E98"/>
          </a:solidFill>
          <a:ln w="12700">
            <a:solidFill>
              <a:srgbClr val="FF4E9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407408" y="2670048"/>
            <a:ext cx="347472" cy="347472"/>
          </a:xfrm>
          <a:prstGeom prst="ellipse">
            <a:avLst/>
          </a:prstGeom>
          <a:solidFill>
            <a:srgbClr val="FF4E98">
              <a:alpha val="12000"/>
            </a:srgbClr>
          </a:solidFill>
          <a:ln w="12700">
            <a:solidFill>
              <a:srgbClr val="FF4E9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446520" y="2743200"/>
            <a:ext cx="201168" cy="201168"/>
          </a:xfrm>
          <a:prstGeom prst="ellipse">
            <a:avLst/>
          </a:prstGeom>
          <a:solidFill>
            <a:srgbClr val="FF4E98"/>
          </a:solidFill>
          <a:ln w="12700">
            <a:solidFill>
              <a:srgbClr val="FF4E9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373368" y="2670048"/>
            <a:ext cx="347472" cy="347472"/>
          </a:xfrm>
          <a:prstGeom prst="ellipse">
            <a:avLst/>
          </a:prstGeom>
          <a:solidFill>
            <a:srgbClr val="FF4E98">
              <a:alpha val="12000"/>
            </a:srgbClr>
          </a:solidFill>
          <a:ln w="12700">
            <a:solidFill>
              <a:srgbClr val="FF4E9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8366760" y="2743200"/>
            <a:ext cx="201168" cy="201168"/>
          </a:xfrm>
          <a:prstGeom prst="ellipse">
            <a:avLst/>
          </a:prstGeom>
          <a:solidFill>
            <a:srgbClr val="9B78FF"/>
          </a:solidFill>
          <a:ln w="12700">
            <a:solidFill>
              <a:srgbClr val="9B78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8293608" y="2670048"/>
            <a:ext cx="347472" cy="347472"/>
          </a:xfrm>
          <a:prstGeom prst="ellipse">
            <a:avLst/>
          </a:prstGeom>
          <a:solidFill>
            <a:srgbClr val="9B78FF">
              <a:alpha val="12000"/>
            </a:srgbClr>
          </a:solidFill>
          <a:ln w="12700">
            <a:solidFill>
              <a:srgbClr val="9B78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0899648" y="2743200"/>
            <a:ext cx="201168" cy="201168"/>
          </a:xfrm>
          <a:prstGeom prst="ellipse">
            <a:avLst/>
          </a:prstGeom>
          <a:solidFill>
            <a:srgbClr val="59D9FF"/>
          </a:solidFill>
          <a:ln w="12700">
            <a:solidFill>
              <a:srgbClr val="59D9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0826496" y="2670048"/>
            <a:ext cx="347472" cy="347472"/>
          </a:xfrm>
          <a:prstGeom prst="ellipse">
            <a:avLst/>
          </a:prstGeom>
          <a:solidFill>
            <a:srgbClr val="59D9FF">
              <a:alpha val="12000"/>
            </a:srgbClr>
          </a:solidFill>
          <a:ln w="12700">
            <a:solidFill>
              <a:srgbClr val="59D9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914400" y="3675888"/>
            <a:ext cx="2880360" cy="1243584"/>
          </a:xfrm>
          <a:prstGeom prst="roundRect">
            <a:avLst>
              <a:gd name="adj" fmla="val 11029"/>
            </a:avLst>
          </a:prstGeom>
          <a:solidFill>
            <a:srgbClr val="101522"/>
          </a:solidFill>
          <a:ln w="8890">
            <a:solidFill>
              <a:srgbClr val="FFD51E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 txBox="1"/>
          <p:nvPr/>
        </p:nvSpPr>
        <p:spPr>
          <a:xfrm>
            <a:off x="1078992" y="3877056"/>
            <a:ext cx="2542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100" dirty="0">
                <a:solidFill>
                  <a:srgbClr val="FFD5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PERFORMANCE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1078992" y="4224528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10" dirty="0">
                <a:solidFill>
                  <a:srgbClr val="F7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fast, stimulating, external goals</a:t>
            </a:r>
            <a:endParaRPr lang="en-US" sz="1210" dirty="0"/>
          </a:p>
        </p:txBody>
      </p:sp>
      <p:sp>
        <p:nvSpPr>
          <p:cNvPr id="25" name="Shape 23"/>
          <p:cNvSpPr/>
          <p:nvPr/>
        </p:nvSpPr>
        <p:spPr>
          <a:xfrm>
            <a:off x="4599432" y="3675888"/>
            <a:ext cx="2880360" cy="1243584"/>
          </a:xfrm>
          <a:prstGeom prst="roundRect">
            <a:avLst>
              <a:gd name="adj" fmla="val 11029"/>
            </a:avLst>
          </a:prstGeom>
          <a:solidFill>
            <a:srgbClr val="101522"/>
          </a:solidFill>
          <a:ln w="8890">
            <a:solidFill>
              <a:srgbClr val="59D9FF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 txBox="1"/>
          <p:nvPr/>
        </p:nvSpPr>
        <p:spPr>
          <a:xfrm>
            <a:off x="4764024" y="3877056"/>
            <a:ext cx="2542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100" dirty="0">
                <a:solidFill>
                  <a:srgbClr val="59D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MENTAL WELLBEING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4764024" y="4224528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10" dirty="0">
                <a:solidFill>
                  <a:srgbClr val="F7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slower, spacious, reflective</a:t>
            </a:r>
            <a:endParaRPr lang="en-US" sz="1210" dirty="0"/>
          </a:p>
        </p:txBody>
      </p:sp>
      <p:sp>
        <p:nvSpPr>
          <p:cNvPr id="28" name="Shape 26"/>
          <p:cNvSpPr/>
          <p:nvPr/>
        </p:nvSpPr>
        <p:spPr>
          <a:xfrm>
            <a:off x="8284464" y="3675888"/>
            <a:ext cx="2880360" cy="1243584"/>
          </a:xfrm>
          <a:prstGeom prst="roundRect">
            <a:avLst>
              <a:gd name="adj" fmla="val 11029"/>
            </a:avLst>
          </a:prstGeom>
          <a:solidFill>
            <a:srgbClr val="101522"/>
          </a:solidFill>
          <a:ln w="8890">
            <a:solidFill>
              <a:srgbClr val="57E3B1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 txBox="1"/>
          <p:nvPr/>
        </p:nvSpPr>
        <p:spPr>
          <a:xfrm>
            <a:off x="8449056" y="3877056"/>
            <a:ext cx="2542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100" dirty="0">
                <a:solidFill>
                  <a:srgbClr val="57E3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SHARED DNA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8449056" y="4224528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10" dirty="0">
                <a:solidFill>
                  <a:srgbClr val="F7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simple, accessible, trackable</a:t>
            </a:r>
            <a:endParaRPr lang="en-US" sz="1210" dirty="0"/>
          </a:p>
        </p:txBody>
      </p:sp>
      <p:pic>
        <p:nvPicPr>
          <p:cNvPr id="31" name="Image 0" descr="/mnt/data/motion_assets/wave.gif"/>
          <p:cNvPicPr>
            <a:picLocks noChangeAspect="1"/>
          </p:cNvPicPr>
          <p:nvPr/>
        </p:nvPicPr>
        <p:blipFill>
          <a:blip r:embed="rId3"/>
          <a:srcRect t="14798" b="14798"/>
          <a:stretch/>
        </p:blipFill>
        <p:spPr>
          <a:xfrm>
            <a:off x="8503920" y="2139696"/>
            <a:ext cx="2697480" cy="493776"/>
          </a:xfrm>
          <a:prstGeom prst="rect">
            <a:avLst/>
          </a:prstGeom>
        </p:spPr>
      </p:pic>
      <p:sp>
        <p:nvSpPr>
          <p:cNvPr id="32" name="Text 29"/>
          <p:cNvSpPr txBox="1"/>
          <p:nvPr/>
        </p:nvSpPr>
        <p:spPr>
          <a:xfrm>
            <a:off x="914400" y="5303520"/>
            <a:ext cx="9829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7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UI keeps the brand’s energy — but lowers the cognitive temperature.</a:t>
            </a:r>
            <a:endParaRPr lang="en-US" sz="2000" dirty="0"/>
          </a:p>
        </p:txBody>
      </p:sp>
      <p:sp>
        <p:nvSpPr>
          <p:cNvPr id="33" name="Text 30"/>
          <p:cNvSpPr txBox="1"/>
          <p:nvPr/>
        </p:nvSpPr>
        <p:spPr>
          <a:xfrm>
            <a:off x="1828800" y="5705856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30" kern="0" spc="40" dirty="0">
                <a:solidFill>
                  <a:srgbClr val="AAB2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visual rhythm • softer gradients • atmospheric backgrounds • controlled motion</a:t>
            </a:r>
            <a:endParaRPr lang="en-US" sz="1030" dirty="0"/>
          </a:p>
        </p:txBody>
      </p:sp>
      <p:sp>
        <p:nvSpPr>
          <p:cNvPr id="36" name="Text 33"/>
          <p:cNvSpPr txBox="1"/>
          <p:nvPr/>
        </p:nvSpPr>
        <p:spPr>
          <a:xfrm>
            <a:off x="11192256" y="6446520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737D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850" dirty="0"/>
          </a:p>
        </p:txBody>
      </p:sp>
    </p:spTree>
  </p:cSld>
  <p:clrMapOvr>
    <a:masterClrMapping/>
  </p:clrMapOvr>
  <p:transition>
    <p:wipe dir="r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35440" y="-822960"/>
            <a:ext cx="4206240" cy="4206240"/>
          </a:xfrm>
          <a:prstGeom prst="ellipse">
            <a:avLst/>
          </a:prstGeom>
          <a:solidFill>
            <a:srgbClr val="FFD51E">
              <a:alpha val="6000"/>
            </a:srgbClr>
          </a:solidFill>
          <a:ln w="12700">
            <a:solidFill>
              <a:srgbClr val="FFD51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1097280" y="3931920"/>
            <a:ext cx="3840480" cy="3840480"/>
          </a:xfrm>
          <a:prstGeom prst="ellipse">
            <a:avLst/>
          </a:prstGeom>
          <a:solidFill>
            <a:srgbClr val="59D9FF">
              <a:alpha val="6000"/>
            </a:srgbClr>
          </a:solidFill>
          <a:ln w="12700">
            <a:solidFill>
              <a:srgbClr val="59D9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658368" y="38404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b="1" kern="0" spc="170" dirty="0">
                <a:solidFill>
                  <a:srgbClr val="FFD5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 / VISUAL PSYCHOLOGY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713232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F7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Before the interface speaks, colour already does.</a:t>
            </a:r>
            <a:endParaRPr lang="en-US" sz="290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1426464"/>
            <a:ext cx="10058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20" dirty="0">
                <a:solidFill>
                  <a:srgbClr val="AAB2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used high-contrast accents strategically: yellow for action, blue/cyan for information, pink for emotional emphasis — against a dark, low-noise base.</a:t>
            </a:r>
            <a:endParaRPr lang="en-US" sz="1520" dirty="0"/>
          </a:p>
        </p:txBody>
      </p:sp>
      <p:sp>
        <p:nvSpPr>
          <p:cNvPr id="7" name="Shape 5"/>
          <p:cNvSpPr/>
          <p:nvPr/>
        </p:nvSpPr>
        <p:spPr>
          <a:xfrm>
            <a:off x="749808" y="2395728"/>
            <a:ext cx="1874520" cy="960120"/>
          </a:xfrm>
          <a:prstGeom prst="roundRect">
            <a:avLst>
              <a:gd name="adj" fmla="val 15238"/>
            </a:avLst>
          </a:prstGeom>
          <a:solidFill>
            <a:srgbClr val="101522"/>
          </a:solidFill>
          <a:ln w="8890">
            <a:solidFill>
              <a:srgbClr val="FFD51E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914400" y="254203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D51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132</a:t>
            </a:r>
            <a:endParaRPr lang="en-US" sz="27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2999232"/>
            <a:ext cx="1536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40" dirty="0">
                <a:solidFill>
                  <a:srgbClr val="AAB2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peer-reviewed articles</a:t>
            </a:r>
            <a:endParaRPr lang="en-US" sz="940" dirty="0"/>
          </a:p>
        </p:txBody>
      </p:sp>
      <p:sp>
        <p:nvSpPr>
          <p:cNvPr id="10" name="Shape 8"/>
          <p:cNvSpPr/>
          <p:nvPr/>
        </p:nvSpPr>
        <p:spPr>
          <a:xfrm>
            <a:off x="2852928" y="2395728"/>
            <a:ext cx="1874520" cy="960120"/>
          </a:xfrm>
          <a:prstGeom prst="roundRect">
            <a:avLst>
              <a:gd name="adj" fmla="val 15238"/>
            </a:avLst>
          </a:prstGeom>
          <a:solidFill>
            <a:srgbClr val="101522"/>
          </a:solidFill>
          <a:ln w="8890">
            <a:solidFill>
              <a:srgbClr val="59D9FF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3017520" y="254203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59D9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42,266</a:t>
            </a:r>
            <a:endParaRPr lang="en-US" sz="2700" dirty="0"/>
          </a:p>
        </p:txBody>
      </p:sp>
      <p:sp>
        <p:nvSpPr>
          <p:cNvPr id="12" name="Text 10"/>
          <p:cNvSpPr txBox="1"/>
          <p:nvPr/>
        </p:nvSpPr>
        <p:spPr>
          <a:xfrm>
            <a:off x="3017520" y="2999232"/>
            <a:ext cx="1536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40" dirty="0">
                <a:solidFill>
                  <a:srgbClr val="AAB2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participants</a:t>
            </a:r>
            <a:endParaRPr lang="en-US" sz="940" dirty="0"/>
          </a:p>
        </p:txBody>
      </p:sp>
      <p:sp>
        <p:nvSpPr>
          <p:cNvPr id="13" name="Shape 11"/>
          <p:cNvSpPr/>
          <p:nvPr/>
        </p:nvSpPr>
        <p:spPr>
          <a:xfrm>
            <a:off x="4956048" y="2395728"/>
            <a:ext cx="1874520" cy="960120"/>
          </a:xfrm>
          <a:prstGeom prst="roundRect">
            <a:avLst>
              <a:gd name="adj" fmla="val 15238"/>
            </a:avLst>
          </a:prstGeom>
          <a:solidFill>
            <a:srgbClr val="101522"/>
          </a:solidFill>
          <a:ln w="8890">
            <a:solidFill>
              <a:srgbClr val="FF4E98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5120640" y="254203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4E9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64</a:t>
            </a:r>
            <a:endParaRPr lang="en-US" sz="2700" dirty="0"/>
          </a:p>
        </p:txBody>
      </p:sp>
      <p:sp>
        <p:nvSpPr>
          <p:cNvPr id="15" name="Text 13"/>
          <p:cNvSpPr txBox="1"/>
          <p:nvPr/>
        </p:nvSpPr>
        <p:spPr>
          <a:xfrm>
            <a:off x="5120640" y="2999232"/>
            <a:ext cx="1536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40" dirty="0">
                <a:solidFill>
                  <a:srgbClr val="AAB2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countries represented</a:t>
            </a:r>
            <a:endParaRPr lang="en-US" sz="940" dirty="0"/>
          </a:p>
        </p:txBody>
      </p:sp>
      <p:sp>
        <p:nvSpPr>
          <p:cNvPr id="16" name="Shape 14"/>
          <p:cNvSpPr/>
          <p:nvPr/>
        </p:nvSpPr>
        <p:spPr>
          <a:xfrm>
            <a:off x="6967728" y="2359152"/>
            <a:ext cx="4370832" cy="1617841"/>
          </a:xfrm>
          <a:prstGeom prst="roundRect">
            <a:avLst>
              <a:gd name="adj" fmla="val 11594"/>
            </a:avLst>
          </a:prstGeom>
          <a:solidFill>
            <a:srgbClr val="101522"/>
          </a:solidFill>
          <a:ln w="8890">
            <a:solidFill>
              <a:srgbClr val="2A3346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7168896" y="2636466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kern="0" spc="135" dirty="0">
                <a:solidFill>
                  <a:srgbClr val="FFD5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IMPLICATION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7205472" y="2995105"/>
            <a:ext cx="6766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D5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8028432" y="2995105"/>
            <a:ext cx="2880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F7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 visibility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7205472" y="3269425"/>
            <a:ext cx="6766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59D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INFO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8028432" y="3269425"/>
            <a:ext cx="2880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F7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cool / low-arousal association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7205472" y="3543745"/>
            <a:ext cx="6766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4E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FEELING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8028432" y="3543745"/>
            <a:ext cx="2880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F7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emphasis / affect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749808" y="3950208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130" dirty="0">
                <a:solidFill>
                  <a:srgbClr val="737D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PALETTE, MANY STATES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49808" y="4297680"/>
            <a:ext cx="960120" cy="256032"/>
          </a:xfrm>
          <a:prstGeom prst="roundRect">
            <a:avLst>
              <a:gd name="adj" fmla="val 21429"/>
            </a:avLst>
          </a:prstGeom>
          <a:solidFill>
            <a:srgbClr val="FFD51E"/>
          </a:solidFill>
          <a:ln w="8890">
            <a:solidFill>
              <a:srgbClr val="FFD51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1828800" y="4297680"/>
            <a:ext cx="960120" cy="256032"/>
          </a:xfrm>
          <a:prstGeom prst="roundRect">
            <a:avLst>
              <a:gd name="adj" fmla="val 21429"/>
            </a:avLst>
          </a:prstGeom>
          <a:solidFill>
            <a:srgbClr val="59D9FF"/>
          </a:solidFill>
          <a:ln w="8890">
            <a:solidFill>
              <a:srgbClr val="59D9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2907792" y="4297680"/>
            <a:ext cx="960120" cy="256032"/>
          </a:xfrm>
          <a:prstGeom prst="roundRect">
            <a:avLst>
              <a:gd name="adj" fmla="val 21429"/>
            </a:avLst>
          </a:prstGeom>
          <a:solidFill>
            <a:srgbClr val="FF4E98"/>
          </a:solidFill>
          <a:ln w="8890">
            <a:solidFill>
              <a:srgbClr val="FF4E9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3986784" y="4297680"/>
            <a:ext cx="960120" cy="256032"/>
          </a:xfrm>
          <a:prstGeom prst="roundRect">
            <a:avLst>
              <a:gd name="adj" fmla="val 21429"/>
            </a:avLst>
          </a:prstGeom>
          <a:solidFill>
            <a:srgbClr val="57E3B1"/>
          </a:solidFill>
          <a:ln w="8890">
            <a:solidFill>
              <a:srgbClr val="57E3B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5065776" y="4297680"/>
            <a:ext cx="960120" cy="256032"/>
          </a:xfrm>
          <a:prstGeom prst="roundRect">
            <a:avLst>
              <a:gd name="adj" fmla="val 21429"/>
            </a:avLst>
          </a:prstGeom>
          <a:solidFill>
            <a:srgbClr val="F7F8FA"/>
          </a:solidFill>
          <a:ln w="8890">
            <a:solidFill>
              <a:srgbClr val="F7F8F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 txBox="1"/>
          <p:nvPr/>
        </p:nvSpPr>
        <p:spPr>
          <a:xfrm>
            <a:off x="749808" y="46634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30" dirty="0">
                <a:solidFill>
                  <a:srgbClr val="AAB2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yellow → action   •   blue/cyan → information   •   pink → emotion</a:t>
            </a:r>
            <a:endParaRPr lang="en-US" sz="1130" dirty="0"/>
          </a:p>
        </p:txBody>
      </p:sp>
      <p:sp>
        <p:nvSpPr>
          <p:cNvPr id="31" name="Shape 29"/>
          <p:cNvSpPr/>
          <p:nvPr/>
        </p:nvSpPr>
        <p:spPr>
          <a:xfrm>
            <a:off x="6967728" y="4114800"/>
            <a:ext cx="4370832" cy="896112"/>
          </a:xfrm>
          <a:prstGeom prst="roundRect">
            <a:avLst>
              <a:gd name="adj" fmla="val 14286"/>
            </a:avLst>
          </a:prstGeom>
          <a:solidFill>
            <a:srgbClr val="141B29"/>
          </a:solidFill>
          <a:ln w="8890">
            <a:solidFill>
              <a:srgbClr val="2A3346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 txBox="1"/>
          <p:nvPr/>
        </p:nvSpPr>
        <p:spPr>
          <a:xfrm>
            <a:off x="7168896" y="4297680"/>
            <a:ext cx="3767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125" dirty="0">
                <a:solidFill>
                  <a:srgbClr val="FF4E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≠ “CALM SWITCH”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7168896" y="4553712"/>
            <a:ext cx="3822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F7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Colour–emotion links are systematic associations; context, hue, lightness and saturation still matter.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749808" y="5285232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110" dirty="0">
                <a:solidFill>
                  <a:srgbClr val="FFD5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COLOUR CAN ALSO MODULATE MEASURABLE BRAIN ACTIVITY</a:t>
            </a:r>
            <a:endParaRPr lang="en-US" sz="900" dirty="0"/>
          </a:p>
        </p:txBody>
      </p:sp>
      <p:pic>
        <p:nvPicPr>
          <p:cNvPr id="35" name="Image 0" descr="/mnt/data/motion_assets/wave.gif"/>
          <p:cNvPicPr>
            <a:picLocks noChangeAspect="1"/>
          </p:cNvPicPr>
          <p:nvPr/>
        </p:nvPicPr>
        <p:blipFill>
          <a:blip r:embed="rId3"/>
          <a:srcRect t="30707" b="30707"/>
          <a:stretch/>
        </p:blipFill>
        <p:spPr>
          <a:xfrm>
            <a:off x="749808" y="5486400"/>
            <a:ext cx="5650992" cy="566928"/>
          </a:xfrm>
          <a:prstGeom prst="rect">
            <a:avLst/>
          </a:prstGeom>
        </p:spPr>
      </p:pic>
      <p:sp>
        <p:nvSpPr>
          <p:cNvPr id="36" name="Text 33"/>
          <p:cNvSpPr txBox="1"/>
          <p:nvPr/>
        </p:nvSpPr>
        <p:spPr>
          <a:xfrm>
            <a:off x="6601968" y="5486400"/>
            <a:ext cx="4617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40" dirty="0">
                <a:solidFill>
                  <a:srgbClr val="AAB2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EEG studies report distinguishable frequency-band changes under different colour stimuli; interpretation depends on the task and setup.</a:t>
            </a:r>
            <a:endParaRPr lang="en-US" sz="940" dirty="0"/>
          </a:p>
        </p:txBody>
      </p:sp>
      <p:sp>
        <p:nvSpPr>
          <p:cNvPr id="37" name="Shape 34"/>
          <p:cNvSpPr/>
          <p:nvPr/>
        </p:nvSpPr>
        <p:spPr>
          <a:xfrm>
            <a:off x="658368" y="6382512"/>
            <a:ext cx="10881360" cy="0"/>
          </a:xfrm>
          <a:prstGeom prst="line">
            <a:avLst/>
          </a:prstGeom>
          <a:noFill/>
          <a:ln w="8890">
            <a:solidFill>
              <a:srgbClr val="2A3346">
                <a:alpha val="7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5"/>
          <p:cNvSpPr txBox="1"/>
          <p:nvPr/>
        </p:nvSpPr>
        <p:spPr>
          <a:xfrm>
            <a:off x="658368" y="6446520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737D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Jonauskaite &amp; Mohr, Psychonomic Bulletin &amp; Review (2025). EEG evidence framed as experimental, not deterministic.</a:t>
            </a:r>
            <a:endParaRPr lang="en-US" sz="750" dirty="0"/>
          </a:p>
        </p:txBody>
      </p:sp>
      <p:sp>
        <p:nvSpPr>
          <p:cNvPr id="39" name="Text 36"/>
          <p:cNvSpPr txBox="1"/>
          <p:nvPr/>
        </p:nvSpPr>
        <p:spPr>
          <a:xfrm>
            <a:off x="11192256" y="6446520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737D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914400"/>
            <a:ext cx="3657600" cy="3657600"/>
          </a:xfrm>
          <a:prstGeom prst="ellipse">
            <a:avLst/>
          </a:prstGeom>
          <a:solidFill>
            <a:srgbClr val="9B78FF">
              <a:alpha val="7000"/>
            </a:srgbClr>
          </a:solidFill>
          <a:ln w="12700">
            <a:solidFill>
              <a:srgbClr val="9B78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914400" y="4023360"/>
            <a:ext cx="3657600" cy="3657600"/>
          </a:xfrm>
          <a:prstGeom prst="ellipse">
            <a:avLst/>
          </a:prstGeom>
          <a:solidFill>
            <a:srgbClr val="59D9FF">
              <a:alpha val="6000"/>
            </a:srgbClr>
          </a:solidFill>
          <a:ln w="12700">
            <a:solidFill>
              <a:srgbClr val="59D9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658368" y="38404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b="1" kern="0" spc="170" dirty="0">
                <a:solidFill>
                  <a:srgbClr val="FFD5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 / COGNITIVE LOAD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713232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F7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One screen. One thought. One next step.</a:t>
            </a:r>
            <a:endParaRPr lang="en-US" sz="290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1426464"/>
            <a:ext cx="10058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20" dirty="0">
                <a:solidFill>
                  <a:srgbClr val="AAB2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When the user may already be carrying more, the interface should ask less from them.</a:t>
            </a:r>
            <a:endParaRPr lang="en-US" sz="1520" dirty="0"/>
          </a:p>
        </p:txBody>
      </p:sp>
      <p:sp>
        <p:nvSpPr>
          <p:cNvPr id="7" name="Shape 5"/>
          <p:cNvSpPr/>
          <p:nvPr/>
        </p:nvSpPr>
        <p:spPr>
          <a:xfrm>
            <a:off x="713232" y="2395728"/>
            <a:ext cx="5074920" cy="2852928"/>
          </a:xfrm>
          <a:prstGeom prst="roundRect">
            <a:avLst>
              <a:gd name="adj" fmla="val 5769"/>
            </a:avLst>
          </a:prstGeom>
          <a:solidFill>
            <a:srgbClr val="101522"/>
          </a:solidFill>
          <a:ln w="8890">
            <a:solidFill>
              <a:srgbClr val="FF4E98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950976" y="2615184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110" dirty="0">
                <a:solidFill>
                  <a:srgbClr val="FF4E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 MUCH, TOO SOON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950976" y="3063240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7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 competing prompts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950976" y="348386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AAB2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+ 3 choices   + progress anxiety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50976" y="4078224"/>
            <a:ext cx="1225296" cy="228600"/>
          </a:xfrm>
          <a:prstGeom prst="roundRect">
            <a:avLst>
              <a:gd name="adj" fmla="val 32000"/>
            </a:avLst>
          </a:prstGeom>
          <a:solidFill>
            <a:srgbClr val="171D2A"/>
          </a:solidFill>
          <a:ln w="8890">
            <a:solidFill>
              <a:srgbClr val="2A3346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987552" y="4123944"/>
            <a:ext cx="11155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737D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goal</a:t>
            </a:r>
            <a:endParaRPr lang="en-US" sz="780" dirty="0"/>
          </a:p>
        </p:txBody>
      </p:sp>
      <p:sp>
        <p:nvSpPr>
          <p:cNvPr id="13" name="Shape 11"/>
          <p:cNvSpPr/>
          <p:nvPr/>
        </p:nvSpPr>
        <p:spPr>
          <a:xfrm>
            <a:off x="2395728" y="4078224"/>
            <a:ext cx="1225296" cy="228600"/>
          </a:xfrm>
          <a:prstGeom prst="roundRect">
            <a:avLst>
              <a:gd name="adj" fmla="val 32000"/>
            </a:avLst>
          </a:prstGeom>
          <a:solidFill>
            <a:srgbClr val="171D2A"/>
          </a:solidFill>
          <a:ln w="8890">
            <a:solidFill>
              <a:srgbClr val="2A3346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2432304" y="4123944"/>
            <a:ext cx="11155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737D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sleep</a:t>
            </a:r>
            <a:endParaRPr lang="en-US" sz="780" dirty="0"/>
          </a:p>
        </p:txBody>
      </p:sp>
      <p:sp>
        <p:nvSpPr>
          <p:cNvPr id="15" name="Shape 13"/>
          <p:cNvSpPr/>
          <p:nvPr/>
        </p:nvSpPr>
        <p:spPr>
          <a:xfrm>
            <a:off x="3840480" y="4078224"/>
            <a:ext cx="1225296" cy="228600"/>
          </a:xfrm>
          <a:prstGeom prst="roundRect">
            <a:avLst>
              <a:gd name="adj" fmla="val 32000"/>
            </a:avLst>
          </a:prstGeom>
          <a:solidFill>
            <a:srgbClr val="171D2A"/>
          </a:solidFill>
          <a:ln w="8890">
            <a:solidFill>
              <a:srgbClr val="2A3346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3877056" y="4123944"/>
            <a:ext cx="11155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737D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mood</a:t>
            </a:r>
            <a:endParaRPr lang="en-US" sz="780" dirty="0"/>
          </a:p>
        </p:txBody>
      </p:sp>
      <p:sp>
        <p:nvSpPr>
          <p:cNvPr id="17" name="Shape 15"/>
          <p:cNvSpPr/>
          <p:nvPr/>
        </p:nvSpPr>
        <p:spPr>
          <a:xfrm>
            <a:off x="950976" y="4425696"/>
            <a:ext cx="1225296" cy="228600"/>
          </a:xfrm>
          <a:prstGeom prst="roundRect">
            <a:avLst>
              <a:gd name="adj" fmla="val 32000"/>
            </a:avLst>
          </a:prstGeom>
          <a:solidFill>
            <a:srgbClr val="171D2A"/>
          </a:solidFill>
          <a:ln w="8890">
            <a:solidFill>
              <a:srgbClr val="2A3346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987552" y="4471416"/>
            <a:ext cx="11155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737D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habit</a:t>
            </a:r>
            <a:endParaRPr lang="en-US" sz="780" dirty="0"/>
          </a:p>
        </p:txBody>
      </p:sp>
      <p:sp>
        <p:nvSpPr>
          <p:cNvPr id="19" name="Shape 17"/>
          <p:cNvSpPr/>
          <p:nvPr/>
        </p:nvSpPr>
        <p:spPr>
          <a:xfrm>
            <a:off x="2395728" y="4425696"/>
            <a:ext cx="1225296" cy="228600"/>
          </a:xfrm>
          <a:prstGeom prst="roundRect">
            <a:avLst>
              <a:gd name="adj" fmla="val 32000"/>
            </a:avLst>
          </a:prstGeom>
          <a:solidFill>
            <a:srgbClr val="171D2A"/>
          </a:solidFill>
          <a:ln w="8890">
            <a:solidFill>
              <a:srgbClr val="2A3346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2432304" y="4471416"/>
            <a:ext cx="11155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737D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therapy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3840480" y="4425696"/>
            <a:ext cx="1225296" cy="228600"/>
          </a:xfrm>
          <a:prstGeom prst="roundRect">
            <a:avLst>
              <a:gd name="adj" fmla="val 32000"/>
            </a:avLst>
          </a:prstGeom>
          <a:solidFill>
            <a:srgbClr val="171D2A"/>
          </a:solidFill>
          <a:ln w="8890">
            <a:solidFill>
              <a:srgbClr val="2A3346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3877056" y="4471416"/>
            <a:ext cx="11155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737D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journal</a:t>
            </a:r>
            <a:endParaRPr lang="en-US" sz="780" dirty="0"/>
          </a:p>
        </p:txBody>
      </p:sp>
      <p:sp>
        <p:nvSpPr>
          <p:cNvPr id="23" name="Shape 21"/>
          <p:cNvSpPr/>
          <p:nvPr/>
        </p:nvSpPr>
        <p:spPr>
          <a:xfrm>
            <a:off x="950976" y="4773168"/>
            <a:ext cx="1225296" cy="228600"/>
          </a:xfrm>
          <a:prstGeom prst="roundRect">
            <a:avLst>
              <a:gd name="adj" fmla="val 32000"/>
            </a:avLst>
          </a:prstGeom>
          <a:solidFill>
            <a:srgbClr val="171D2A"/>
          </a:solidFill>
          <a:ln w="8890">
            <a:solidFill>
              <a:srgbClr val="2A3346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987552" y="4818888"/>
            <a:ext cx="11155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737D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</a:t>
            </a:r>
            <a:endParaRPr lang="en-US" sz="780" dirty="0"/>
          </a:p>
        </p:txBody>
      </p:sp>
      <p:sp>
        <p:nvSpPr>
          <p:cNvPr id="25" name="Shape 23"/>
          <p:cNvSpPr/>
          <p:nvPr/>
        </p:nvSpPr>
        <p:spPr>
          <a:xfrm>
            <a:off x="2395728" y="4773168"/>
            <a:ext cx="1225296" cy="228600"/>
          </a:xfrm>
          <a:prstGeom prst="roundRect">
            <a:avLst>
              <a:gd name="adj" fmla="val 32000"/>
            </a:avLst>
          </a:prstGeom>
          <a:solidFill>
            <a:srgbClr val="171D2A"/>
          </a:solidFill>
          <a:ln w="8890">
            <a:solidFill>
              <a:srgbClr val="2A3346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 txBox="1"/>
          <p:nvPr/>
        </p:nvSpPr>
        <p:spPr>
          <a:xfrm>
            <a:off x="2432304" y="4818888"/>
            <a:ext cx="11155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737D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profile</a:t>
            </a:r>
            <a:endParaRPr lang="en-US" sz="780" dirty="0"/>
          </a:p>
        </p:txBody>
      </p:sp>
      <p:sp>
        <p:nvSpPr>
          <p:cNvPr id="27" name="Shape 25"/>
          <p:cNvSpPr/>
          <p:nvPr/>
        </p:nvSpPr>
        <p:spPr>
          <a:xfrm>
            <a:off x="3840480" y="4773168"/>
            <a:ext cx="1225296" cy="228600"/>
          </a:xfrm>
          <a:prstGeom prst="roundRect">
            <a:avLst>
              <a:gd name="adj" fmla="val 32000"/>
            </a:avLst>
          </a:prstGeom>
          <a:solidFill>
            <a:srgbClr val="171D2A"/>
          </a:solidFill>
          <a:ln w="8890">
            <a:solidFill>
              <a:srgbClr val="2A3346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 txBox="1"/>
          <p:nvPr/>
        </p:nvSpPr>
        <p:spPr>
          <a:xfrm>
            <a:off x="3877056" y="4818888"/>
            <a:ext cx="11155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737D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results</a:t>
            </a:r>
            <a:endParaRPr lang="en-US" sz="780" dirty="0"/>
          </a:p>
        </p:txBody>
      </p:sp>
      <p:sp>
        <p:nvSpPr>
          <p:cNvPr id="29" name="Shape 27"/>
          <p:cNvSpPr/>
          <p:nvPr/>
        </p:nvSpPr>
        <p:spPr>
          <a:xfrm>
            <a:off x="6144768" y="2395728"/>
            <a:ext cx="5074920" cy="2852928"/>
          </a:xfrm>
          <a:prstGeom prst="roundRect">
            <a:avLst>
              <a:gd name="adj" fmla="val 5769"/>
            </a:avLst>
          </a:prstGeom>
          <a:solidFill>
            <a:srgbClr val="101522"/>
          </a:solidFill>
          <a:ln w="8890">
            <a:solidFill>
              <a:srgbClr val="57E3B1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 txBox="1"/>
          <p:nvPr/>
        </p:nvSpPr>
        <p:spPr>
          <a:xfrm>
            <a:off x="6419088" y="2615184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110" dirty="0">
                <a:solidFill>
                  <a:srgbClr val="57E3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FOCUSED FLOW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6419088" y="2962656"/>
            <a:ext cx="3520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7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Have you explored</a:t>
            </a:r>
            <a:endParaRPr lang="en-US" sz="2200" dirty="0"/>
          </a:p>
          <a:p>
            <a:pPr marL="0" indent="0" algn="l">
              <a:buNone/>
            </a:pPr>
            <a:r>
              <a:rPr lang="en-US" sz="2200" b="1" dirty="0">
                <a:solidFill>
                  <a:srgbClr val="F7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therapy before?</a:t>
            </a:r>
            <a:endParaRPr lang="en-US" sz="2200" dirty="0"/>
          </a:p>
        </p:txBody>
      </p:sp>
      <p:sp>
        <p:nvSpPr>
          <p:cNvPr id="32" name="Shape 30"/>
          <p:cNvSpPr/>
          <p:nvPr/>
        </p:nvSpPr>
        <p:spPr>
          <a:xfrm>
            <a:off x="6437376" y="4206240"/>
            <a:ext cx="841248" cy="246888"/>
          </a:xfrm>
          <a:prstGeom prst="roundRect">
            <a:avLst>
              <a:gd name="adj" fmla="val 51852"/>
            </a:avLst>
          </a:prstGeom>
          <a:solidFill>
            <a:srgbClr val="FFD51E"/>
          </a:solidFill>
          <a:ln w="8890">
            <a:solidFill>
              <a:srgbClr val="FFD51E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 txBox="1"/>
          <p:nvPr/>
        </p:nvSpPr>
        <p:spPr>
          <a:xfrm>
            <a:off x="6510528" y="4219956"/>
            <a:ext cx="694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kern="0" spc="6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YES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7552944" y="4206240"/>
            <a:ext cx="841248" cy="246888"/>
          </a:xfrm>
          <a:prstGeom prst="roundRect">
            <a:avLst>
              <a:gd name="adj" fmla="val 51852"/>
            </a:avLst>
          </a:prstGeom>
          <a:solidFill>
            <a:srgbClr val="59D9FF"/>
          </a:solidFill>
          <a:ln w="8890">
            <a:solidFill>
              <a:srgbClr val="59D9FF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 txBox="1"/>
          <p:nvPr/>
        </p:nvSpPr>
        <p:spPr>
          <a:xfrm>
            <a:off x="7626096" y="4219956"/>
            <a:ext cx="694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kern="0" spc="6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8668512" y="4206240"/>
            <a:ext cx="896112" cy="246888"/>
          </a:xfrm>
          <a:prstGeom prst="roundRect">
            <a:avLst>
              <a:gd name="adj" fmla="val 51852"/>
            </a:avLst>
          </a:prstGeom>
          <a:solidFill>
            <a:srgbClr val="FF4E98"/>
          </a:solidFill>
          <a:ln w="8890">
            <a:solidFill>
              <a:srgbClr val="FF4E98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 txBox="1"/>
          <p:nvPr/>
        </p:nvSpPr>
        <p:spPr>
          <a:xfrm>
            <a:off x="8741664" y="4219956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kern="0" spc="6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SKIP</a:t>
            </a:r>
            <a:endParaRPr lang="en-US" sz="860" dirty="0"/>
          </a:p>
        </p:txBody>
      </p:sp>
      <p:sp>
        <p:nvSpPr>
          <p:cNvPr id="38" name="Text 36"/>
          <p:cNvSpPr txBox="1"/>
          <p:nvPr/>
        </p:nvSpPr>
        <p:spPr>
          <a:xfrm>
            <a:off x="6437376" y="4736592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AAB2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answer → next question → saved progress</a:t>
            </a:r>
            <a:endParaRPr lang="en-US" sz="1120" dirty="0"/>
          </a:p>
        </p:txBody>
      </p:sp>
      <p:sp>
        <p:nvSpPr>
          <p:cNvPr id="39" name="Text 37"/>
          <p:cNvSpPr txBox="1"/>
          <p:nvPr/>
        </p:nvSpPr>
        <p:spPr>
          <a:xfrm>
            <a:off x="749808" y="5614416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7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interface asks less — because the user may already be carrying more.</a:t>
            </a:r>
            <a:endParaRPr lang="en-US" sz="1800" dirty="0"/>
          </a:p>
        </p:txBody>
      </p:sp>
      <p:sp>
        <p:nvSpPr>
          <p:cNvPr id="40" name="Shape 38"/>
          <p:cNvSpPr/>
          <p:nvPr/>
        </p:nvSpPr>
        <p:spPr>
          <a:xfrm>
            <a:off x="658368" y="6382512"/>
            <a:ext cx="10881360" cy="0"/>
          </a:xfrm>
          <a:prstGeom prst="line">
            <a:avLst/>
          </a:prstGeom>
          <a:noFill/>
          <a:ln w="8890">
            <a:solidFill>
              <a:srgbClr val="2A3346">
                <a:alpha val="7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 txBox="1"/>
          <p:nvPr/>
        </p:nvSpPr>
        <p:spPr>
          <a:xfrm>
            <a:off x="658368" y="6446520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737D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GOV.UK Design System — Question pages / Service Manual — form structure.</a:t>
            </a:r>
            <a:endParaRPr lang="en-US" sz="750" dirty="0"/>
          </a:p>
        </p:txBody>
      </p:sp>
      <p:sp>
        <p:nvSpPr>
          <p:cNvPr id="42" name="Text 40"/>
          <p:cNvSpPr txBox="1"/>
          <p:nvPr/>
        </p:nvSpPr>
        <p:spPr>
          <a:xfrm>
            <a:off x="11192256" y="6446520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737D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850" dirty="0"/>
          </a:p>
        </p:txBody>
      </p:sp>
    </p:spTree>
  </p:cSld>
  <p:clrMapOvr>
    <a:masterClrMapping/>
  </p:clrMapOvr>
  <p:transition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-914400"/>
            <a:ext cx="4114800" cy="4114800"/>
          </a:xfrm>
          <a:prstGeom prst="ellipse">
            <a:avLst/>
          </a:prstGeom>
          <a:solidFill>
            <a:srgbClr val="FF4E98">
              <a:alpha val="8000"/>
            </a:srgbClr>
          </a:solidFill>
          <a:ln w="12700">
            <a:solidFill>
              <a:srgbClr val="FF4E9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011680" y="4297680"/>
            <a:ext cx="3657600" cy="3657600"/>
          </a:xfrm>
          <a:prstGeom prst="ellipse">
            <a:avLst/>
          </a:prstGeom>
          <a:solidFill>
            <a:srgbClr val="57E3B1">
              <a:alpha val="6000"/>
            </a:srgbClr>
          </a:solidFill>
          <a:ln w="12700">
            <a:solidFill>
              <a:srgbClr val="57E3B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658368" y="38404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b="1" kern="0" spc="170" dirty="0">
                <a:solidFill>
                  <a:srgbClr val="FFD5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 / PEOPLE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713232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F7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Designed for the person behind the screen.</a:t>
            </a:r>
            <a:endParaRPr lang="en-US" sz="290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1426464"/>
            <a:ext cx="10058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20" dirty="0">
                <a:solidFill>
                  <a:srgbClr val="AAB2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Three broad user states guided the onboarding and personalization logic.</a:t>
            </a:r>
            <a:endParaRPr lang="en-US" sz="1520" dirty="0"/>
          </a:p>
        </p:txBody>
      </p:sp>
      <p:sp>
        <p:nvSpPr>
          <p:cNvPr id="7" name="Shape 5"/>
          <p:cNvSpPr/>
          <p:nvPr/>
        </p:nvSpPr>
        <p:spPr>
          <a:xfrm>
            <a:off x="749808" y="2542032"/>
            <a:ext cx="3273552" cy="2724912"/>
          </a:xfrm>
          <a:prstGeom prst="roundRect">
            <a:avLst>
              <a:gd name="adj" fmla="val 6040"/>
            </a:avLst>
          </a:prstGeom>
          <a:solidFill>
            <a:srgbClr val="101522"/>
          </a:solidFill>
          <a:ln w="8890">
            <a:solidFill>
              <a:srgbClr val="59D9FF">
                <a:alpha val="6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950976" y="2761488"/>
            <a:ext cx="438912" cy="246888"/>
          </a:xfrm>
          <a:prstGeom prst="roundRect">
            <a:avLst>
              <a:gd name="adj" fmla="val 51852"/>
            </a:avLst>
          </a:prstGeom>
          <a:solidFill>
            <a:srgbClr val="59D9FF"/>
          </a:solidFill>
          <a:ln w="8890">
            <a:solidFill>
              <a:srgbClr val="59D9FF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1024128" y="2775204"/>
            <a:ext cx="292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kern="0" spc="6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950976" y="3218688"/>
            <a:ext cx="2706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80" b="1" dirty="0">
                <a:solidFill>
                  <a:srgbClr val="F7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FIRST-TIMER</a:t>
            </a:r>
            <a:endParaRPr lang="en-US" sz="1680" dirty="0"/>
          </a:p>
        </p:txBody>
      </p:sp>
      <p:sp>
        <p:nvSpPr>
          <p:cNvPr id="11" name="Text 9"/>
          <p:cNvSpPr txBox="1"/>
          <p:nvPr/>
        </p:nvSpPr>
        <p:spPr>
          <a:xfrm>
            <a:off x="950976" y="3730752"/>
            <a:ext cx="270662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AAB2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Therapy feels unfamiliar. Needs context, control and no pressure.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950976" y="4608576"/>
            <a:ext cx="270662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60" b="1" i="1" dirty="0">
                <a:solidFill>
                  <a:srgbClr val="F7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“I don’t know where to start.”</a:t>
            </a:r>
            <a:endParaRPr lang="en-US" sz="1160" dirty="0"/>
          </a:p>
        </p:txBody>
      </p:sp>
      <p:sp>
        <p:nvSpPr>
          <p:cNvPr id="13" name="Shape 11"/>
          <p:cNvSpPr/>
          <p:nvPr/>
        </p:nvSpPr>
        <p:spPr>
          <a:xfrm>
            <a:off x="4480560" y="2542032"/>
            <a:ext cx="3273552" cy="2724912"/>
          </a:xfrm>
          <a:prstGeom prst="roundRect">
            <a:avLst>
              <a:gd name="adj" fmla="val 6040"/>
            </a:avLst>
          </a:prstGeom>
          <a:solidFill>
            <a:srgbClr val="101522"/>
          </a:solidFill>
          <a:ln w="8890">
            <a:solidFill>
              <a:srgbClr val="FF4E98">
                <a:alpha val="6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681728" y="2761488"/>
            <a:ext cx="438912" cy="246888"/>
          </a:xfrm>
          <a:prstGeom prst="roundRect">
            <a:avLst>
              <a:gd name="adj" fmla="val 51852"/>
            </a:avLst>
          </a:prstGeom>
          <a:solidFill>
            <a:srgbClr val="FF4E98"/>
          </a:solidFill>
          <a:ln w="8890">
            <a:solidFill>
              <a:srgbClr val="FF4E98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4754880" y="2775204"/>
            <a:ext cx="292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kern="0" spc="6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00" dirty="0"/>
          </a:p>
        </p:txBody>
      </p:sp>
      <p:sp>
        <p:nvSpPr>
          <p:cNvPr id="16" name="Text 14"/>
          <p:cNvSpPr txBox="1"/>
          <p:nvPr/>
        </p:nvSpPr>
        <p:spPr>
          <a:xfrm>
            <a:off x="4681728" y="3218688"/>
            <a:ext cx="2706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80" b="1" dirty="0">
                <a:solidFill>
                  <a:srgbClr val="F7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EXPERIENCED USER</a:t>
            </a:r>
            <a:endParaRPr lang="en-US" sz="1680" dirty="0"/>
          </a:p>
        </p:txBody>
      </p:sp>
      <p:sp>
        <p:nvSpPr>
          <p:cNvPr id="17" name="Text 15"/>
          <p:cNvSpPr txBox="1"/>
          <p:nvPr/>
        </p:nvSpPr>
        <p:spPr>
          <a:xfrm>
            <a:off x="4681728" y="3730752"/>
            <a:ext cx="270662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AAB2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Already understands therapy. Needs continuity and personalization.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681728" y="4608576"/>
            <a:ext cx="270662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60" b="1" i="1" dirty="0">
                <a:solidFill>
                  <a:srgbClr val="F7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“I want this to remember me.”</a:t>
            </a:r>
            <a:endParaRPr lang="en-US" sz="1160" dirty="0"/>
          </a:p>
        </p:txBody>
      </p:sp>
      <p:sp>
        <p:nvSpPr>
          <p:cNvPr id="19" name="Shape 17"/>
          <p:cNvSpPr/>
          <p:nvPr/>
        </p:nvSpPr>
        <p:spPr>
          <a:xfrm>
            <a:off x="8211312" y="2542032"/>
            <a:ext cx="3273552" cy="2724912"/>
          </a:xfrm>
          <a:prstGeom prst="roundRect">
            <a:avLst>
              <a:gd name="adj" fmla="val 6040"/>
            </a:avLst>
          </a:prstGeom>
          <a:solidFill>
            <a:srgbClr val="101522"/>
          </a:solidFill>
          <a:ln w="8890">
            <a:solidFill>
              <a:srgbClr val="FFD51E">
                <a:alpha val="6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8412480" y="2761488"/>
            <a:ext cx="438912" cy="246888"/>
          </a:xfrm>
          <a:prstGeom prst="roundRect">
            <a:avLst>
              <a:gd name="adj" fmla="val 51852"/>
            </a:avLst>
          </a:prstGeom>
          <a:solidFill>
            <a:srgbClr val="FFD51E"/>
          </a:solidFill>
          <a:ln w="8890">
            <a:solidFill>
              <a:srgbClr val="FFD51E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8485632" y="2775204"/>
            <a:ext cx="292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kern="0" spc="6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00" dirty="0"/>
          </a:p>
        </p:txBody>
      </p:sp>
      <p:sp>
        <p:nvSpPr>
          <p:cNvPr id="22" name="Text 20"/>
          <p:cNvSpPr txBox="1"/>
          <p:nvPr/>
        </p:nvSpPr>
        <p:spPr>
          <a:xfrm>
            <a:off x="8412480" y="3218688"/>
            <a:ext cx="2706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80" b="1" dirty="0">
                <a:solidFill>
                  <a:srgbClr val="F7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CULT.FIT MEMBER</a:t>
            </a:r>
            <a:endParaRPr lang="en-US" sz="1680" dirty="0"/>
          </a:p>
        </p:txBody>
      </p:sp>
      <p:sp>
        <p:nvSpPr>
          <p:cNvPr id="23" name="Text 21"/>
          <p:cNvSpPr txBox="1"/>
          <p:nvPr/>
        </p:nvSpPr>
        <p:spPr>
          <a:xfrm>
            <a:off x="8412480" y="3730752"/>
            <a:ext cx="270662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AAB2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Comfortable with fitness. New to mental wellbeing.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8412480" y="4608576"/>
            <a:ext cx="270662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60" b="1" i="1" dirty="0">
                <a:solidFill>
                  <a:srgbClr val="F7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“I track my body. Can I track my mind?”</a:t>
            </a:r>
            <a:endParaRPr lang="en-US" sz="1160" dirty="0"/>
          </a:p>
        </p:txBody>
      </p:sp>
      <p:sp>
        <p:nvSpPr>
          <p:cNvPr id="25" name="Text 23"/>
          <p:cNvSpPr txBox="1"/>
          <p:nvPr/>
        </p:nvSpPr>
        <p:spPr>
          <a:xfrm>
            <a:off x="749808" y="5650992"/>
            <a:ext cx="7040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50" b="1" dirty="0">
                <a:solidFill>
                  <a:srgbClr val="F7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ONBOARDING ISN’T A QUIZ. IT’S A HANDSHAKE.</a:t>
            </a:r>
            <a:endParaRPr lang="en-US" sz="1850" dirty="0"/>
          </a:p>
        </p:txBody>
      </p:sp>
      <p:sp>
        <p:nvSpPr>
          <p:cNvPr id="26" name="Text 24"/>
          <p:cNvSpPr txBox="1"/>
          <p:nvPr/>
        </p:nvSpPr>
        <p:spPr>
          <a:xfrm>
            <a:off x="7845552" y="5650992"/>
            <a:ext cx="3694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buNone/>
            </a:pPr>
            <a:r>
              <a:rPr lang="en-US" sz="1400" dirty="0">
                <a:solidFill>
                  <a:srgbClr val="AAB2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Ask only what helps the next step feel personal.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11192256" y="6446520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737D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914400"/>
            <a:ext cx="3840480" cy="3840480"/>
          </a:xfrm>
          <a:prstGeom prst="ellipse">
            <a:avLst/>
          </a:prstGeom>
          <a:solidFill>
            <a:srgbClr val="59D9FF">
              <a:alpha val="7000"/>
            </a:srgbClr>
          </a:solidFill>
          <a:ln w="12700">
            <a:solidFill>
              <a:srgbClr val="59D9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914400" y="4572000"/>
            <a:ext cx="3657600" cy="3657600"/>
          </a:xfrm>
          <a:prstGeom prst="ellipse">
            <a:avLst/>
          </a:prstGeom>
          <a:solidFill>
            <a:srgbClr val="FFD51E">
              <a:alpha val="5000"/>
            </a:srgbClr>
          </a:solidFill>
          <a:ln w="12700">
            <a:solidFill>
              <a:srgbClr val="FFD51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658368" y="38404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b="1" kern="0" spc="170" dirty="0">
                <a:solidFill>
                  <a:srgbClr val="FFD5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 / EMOTIONAL SENSITIVITY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713232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F7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Not every thought needs a form.</a:t>
            </a:r>
            <a:endParaRPr lang="en-US" sz="290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1426464"/>
            <a:ext cx="10058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20" dirty="0">
                <a:solidFill>
                  <a:srgbClr val="AAB2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onboarding is deliberately optional: skip, change, or answer later. The product invites reflection instead of interrogating the user.</a:t>
            </a:r>
            <a:endParaRPr lang="en-US" sz="1520" dirty="0"/>
          </a:p>
        </p:txBody>
      </p:sp>
      <p:sp>
        <p:nvSpPr>
          <p:cNvPr id="7" name="Shape 5"/>
          <p:cNvSpPr/>
          <p:nvPr/>
        </p:nvSpPr>
        <p:spPr>
          <a:xfrm>
            <a:off x="786384" y="2386584"/>
            <a:ext cx="5449824" cy="3401568"/>
          </a:xfrm>
          <a:prstGeom prst="roundRect">
            <a:avLst>
              <a:gd name="adj" fmla="val 3226"/>
            </a:avLst>
          </a:prstGeom>
          <a:solidFill>
            <a:srgbClr val="000000">
              <a:alpha val="3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13232" y="2304288"/>
            <a:ext cx="5449824" cy="3401568"/>
          </a:xfrm>
          <a:prstGeom prst="roundRect">
            <a:avLst>
              <a:gd name="adj" fmla="val 3226"/>
            </a:avLst>
          </a:prstGeom>
          <a:solidFill>
            <a:srgbClr val="101522"/>
          </a:solidFill>
          <a:ln w="12700">
            <a:solidFill>
              <a:srgbClr val="2A33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31520" y="2322576"/>
            <a:ext cx="5413248" cy="301752"/>
          </a:xfrm>
          <a:prstGeom prst="roundRect">
            <a:avLst>
              <a:gd name="adj" fmla="val 24242"/>
            </a:avLst>
          </a:prstGeom>
          <a:solidFill>
            <a:srgbClr val="0B101B"/>
          </a:solidFill>
          <a:ln w="12700">
            <a:solidFill>
              <a:srgbClr val="0B101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850392" y="2423160"/>
            <a:ext cx="64008" cy="64008"/>
          </a:xfrm>
          <a:prstGeom prst="ellipse">
            <a:avLst/>
          </a:prstGeom>
          <a:solidFill>
            <a:srgbClr val="FF4E98"/>
          </a:solidFill>
          <a:ln w="12700">
            <a:solidFill>
              <a:srgbClr val="FF4E9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960120" y="2423160"/>
            <a:ext cx="64008" cy="64008"/>
          </a:xfrm>
          <a:prstGeom prst="ellipse">
            <a:avLst/>
          </a:prstGeom>
          <a:solidFill>
            <a:srgbClr val="FFD51E"/>
          </a:solidFill>
          <a:ln w="12700">
            <a:solidFill>
              <a:srgbClr val="FFD51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069848" y="2423160"/>
            <a:ext cx="64008" cy="64008"/>
          </a:xfrm>
          <a:prstGeom prst="ellipse">
            <a:avLst/>
          </a:prstGeom>
          <a:solidFill>
            <a:srgbClr val="57E3B1"/>
          </a:solidFill>
          <a:ln w="12700">
            <a:solidFill>
              <a:srgbClr val="57E3B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1280160" y="2395728"/>
            <a:ext cx="42153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737D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cultfit-mind / onboarding</a:t>
            </a:r>
            <a:endParaRPr lang="en-US" sz="750" dirty="0"/>
          </a:p>
        </p:txBody>
      </p:sp>
      <p:pic>
        <p:nvPicPr>
          <p:cNvPr id="14" name="Image 0" descr="/mnt/data/site_screens/index.png"/>
          <p:cNvPicPr>
            <a:picLocks noChangeAspect="1"/>
          </p:cNvPicPr>
          <p:nvPr/>
        </p:nvPicPr>
        <p:blipFill>
          <a:blip r:embed="rId3"/>
          <a:srcRect t="4865" b="4865"/>
          <a:stretch/>
        </p:blipFill>
        <p:spPr>
          <a:xfrm>
            <a:off x="731520" y="2633472"/>
            <a:ext cx="5413248" cy="3054096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713232" y="2304288"/>
            <a:ext cx="5449824" cy="3401568"/>
          </a:xfrm>
          <a:prstGeom prst="roundRect">
            <a:avLst>
              <a:gd name="adj" fmla="val 3226"/>
            </a:avLst>
          </a:prstGeom>
          <a:solidFill>
            <a:srgbClr val="FFFFFF">
              <a:alpha val="0"/>
            </a:srgbClr>
          </a:solidFill>
          <a:ln w="10160">
            <a:solidFill>
              <a:srgbClr val="566074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6601968" y="2340864"/>
            <a:ext cx="4590288" cy="676656"/>
          </a:xfrm>
          <a:prstGeom prst="roundRect">
            <a:avLst>
              <a:gd name="adj" fmla="val 16216"/>
            </a:avLst>
          </a:prstGeom>
          <a:solidFill>
            <a:srgbClr val="101522"/>
          </a:solidFill>
          <a:ln w="8890">
            <a:solidFill>
              <a:srgbClr val="2A3346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6766560" y="2505456"/>
            <a:ext cx="246888" cy="246888"/>
          </a:xfrm>
          <a:prstGeom prst="ellipse">
            <a:avLst/>
          </a:prstGeom>
          <a:solidFill>
            <a:srgbClr val="FF4E98"/>
          </a:solidFill>
          <a:ln w="12700">
            <a:solidFill>
              <a:srgbClr val="FF4E9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 txBox="1"/>
          <p:nvPr/>
        </p:nvSpPr>
        <p:spPr>
          <a:xfrm>
            <a:off x="6766560" y="2551176"/>
            <a:ext cx="2468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850" dirty="0"/>
          </a:p>
        </p:txBody>
      </p:sp>
      <p:sp>
        <p:nvSpPr>
          <p:cNvPr id="19" name="Text 16"/>
          <p:cNvSpPr txBox="1"/>
          <p:nvPr/>
        </p:nvSpPr>
        <p:spPr>
          <a:xfrm>
            <a:off x="7104888" y="2487168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30" b="1" dirty="0">
                <a:solidFill>
                  <a:srgbClr val="F7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OPTIONAL DISCLOSURE</a:t>
            </a:r>
            <a:endParaRPr lang="en-US" sz="1230" dirty="0"/>
          </a:p>
        </p:txBody>
      </p:sp>
      <p:sp>
        <p:nvSpPr>
          <p:cNvPr id="20" name="Text 17"/>
          <p:cNvSpPr txBox="1"/>
          <p:nvPr/>
        </p:nvSpPr>
        <p:spPr>
          <a:xfrm>
            <a:off x="7104888" y="2788920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AAB2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forced personal disclosure.</a:t>
            </a:r>
            <a:endParaRPr lang="en-US" sz="1080" dirty="0"/>
          </a:p>
        </p:txBody>
      </p:sp>
      <p:sp>
        <p:nvSpPr>
          <p:cNvPr id="21" name="Shape 18"/>
          <p:cNvSpPr/>
          <p:nvPr/>
        </p:nvSpPr>
        <p:spPr>
          <a:xfrm>
            <a:off x="6601968" y="3163824"/>
            <a:ext cx="4590288" cy="676656"/>
          </a:xfrm>
          <a:prstGeom prst="roundRect">
            <a:avLst>
              <a:gd name="adj" fmla="val 16216"/>
            </a:avLst>
          </a:prstGeom>
          <a:solidFill>
            <a:srgbClr val="101522"/>
          </a:solidFill>
          <a:ln w="8890">
            <a:solidFill>
              <a:srgbClr val="2A3346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6766560" y="3328416"/>
            <a:ext cx="246888" cy="246888"/>
          </a:xfrm>
          <a:prstGeom prst="ellipse">
            <a:avLst/>
          </a:prstGeom>
          <a:solidFill>
            <a:srgbClr val="59D9FF"/>
          </a:solidFill>
          <a:ln w="12700">
            <a:solidFill>
              <a:srgbClr val="59D9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 txBox="1"/>
          <p:nvPr/>
        </p:nvSpPr>
        <p:spPr>
          <a:xfrm>
            <a:off x="6766560" y="3374363"/>
            <a:ext cx="2468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50" dirty="0"/>
          </a:p>
        </p:txBody>
      </p:sp>
      <p:sp>
        <p:nvSpPr>
          <p:cNvPr id="24" name="Text 21"/>
          <p:cNvSpPr txBox="1"/>
          <p:nvPr/>
        </p:nvSpPr>
        <p:spPr>
          <a:xfrm>
            <a:off x="7104888" y="3310128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30" b="1" dirty="0">
                <a:solidFill>
                  <a:srgbClr val="F7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NEUTRAL LANGUAGE</a:t>
            </a:r>
            <a:endParaRPr lang="en-US" sz="1230" dirty="0"/>
          </a:p>
        </p:txBody>
      </p:sp>
      <p:sp>
        <p:nvSpPr>
          <p:cNvPr id="25" name="Text 22"/>
          <p:cNvSpPr txBox="1"/>
          <p:nvPr/>
        </p:nvSpPr>
        <p:spPr>
          <a:xfrm>
            <a:off x="7104888" y="3611880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AAB2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diagnostic-looking questionnaire.</a:t>
            </a:r>
            <a:endParaRPr lang="en-US" sz="1080" dirty="0"/>
          </a:p>
        </p:txBody>
      </p:sp>
      <p:sp>
        <p:nvSpPr>
          <p:cNvPr id="26" name="Shape 23"/>
          <p:cNvSpPr/>
          <p:nvPr/>
        </p:nvSpPr>
        <p:spPr>
          <a:xfrm>
            <a:off x="6601968" y="3986784"/>
            <a:ext cx="4590288" cy="676656"/>
          </a:xfrm>
          <a:prstGeom prst="roundRect">
            <a:avLst>
              <a:gd name="adj" fmla="val 16216"/>
            </a:avLst>
          </a:prstGeom>
          <a:solidFill>
            <a:srgbClr val="101522"/>
          </a:solidFill>
          <a:ln w="8890">
            <a:solidFill>
              <a:srgbClr val="2A3346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>
            <a:off x="6766560" y="4151376"/>
            <a:ext cx="246888" cy="246888"/>
          </a:xfrm>
          <a:prstGeom prst="ellipse">
            <a:avLst/>
          </a:prstGeom>
          <a:solidFill>
            <a:srgbClr val="FFD51E"/>
          </a:solidFill>
          <a:ln w="12700">
            <a:solidFill>
              <a:srgbClr val="FFD51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 txBox="1"/>
          <p:nvPr/>
        </p:nvSpPr>
        <p:spPr>
          <a:xfrm>
            <a:off x="6766560" y="4209631"/>
            <a:ext cx="2468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50" dirty="0"/>
          </a:p>
        </p:txBody>
      </p:sp>
      <p:sp>
        <p:nvSpPr>
          <p:cNvPr id="29" name="Text 26"/>
          <p:cNvSpPr txBox="1"/>
          <p:nvPr/>
        </p:nvSpPr>
        <p:spPr>
          <a:xfrm>
            <a:off x="7104888" y="4133088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30" b="1" dirty="0">
                <a:solidFill>
                  <a:srgbClr val="F7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FLEXIBLE PATH</a:t>
            </a:r>
            <a:endParaRPr lang="en-US" sz="1230" dirty="0"/>
          </a:p>
        </p:txBody>
      </p:sp>
      <p:sp>
        <p:nvSpPr>
          <p:cNvPr id="30" name="Text 27"/>
          <p:cNvSpPr txBox="1"/>
          <p:nvPr/>
        </p:nvSpPr>
        <p:spPr>
          <a:xfrm>
            <a:off x="7104888" y="4434840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AAB2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Skip or change an answer.</a:t>
            </a:r>
            <a:endParaRPr lang="en-US" sz="1080" dirty="0"/>
          </a:p>
        </p:txBody>
      </p:sp>
      <p:sp>
        <p:nvSpPr>
          <p:cNvPr id="31" name="Shape 28"/>
          <p:cNvSpPr/>
          <p:nvPr/>
        </p:nvSpPr>
        <p:spPr>
          <a:xfrm>
            <a:off x="6601968" y="4809744"/>
            <a:ext cx="4590288" cy="676656"/>
          </a:xfrm>
          <a:prstGeom prst="roundRect">
            <a:avLst>
              <a:gd name="adj" fmla="val 16216"/>
            </a:avLst>
          </a:prstGeom>
          <a:solidFill>
            <a:srgbClr val="101522"/>
          </a:solidFill>
          <a:ln w="8890">
            <a:solidFill>
              <a:srgbClr val="2A3346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29"/>
          <p:cNvSpPr/>
          <p:nvPr/>
        </p:nvSpPr>
        <p:spPr>
          <a:xfrm>
            <a:off x="6766560" y="4974336"/>
            <a:ext cx="246888" cy="246888"/>
          </a:xfrm>
          <a:prstGeom prst="ellipse">
            <a:avLst/>
          </a:prstGeom>
          <a:solidFill>
            <a:srgbClr val="57E3B1"/>
          </a:solidFill>
          <a:ln w="12700">
            <a:solidFill>
              <a:srgbClr val="57E3B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 txBox="1"/>
          <p:nvPr/>
        </p:nvSpPr>
        <p:spPr>
          <a:xfrm>
            <a:off x="6766560" y="5032591"/>
            <a:ext cx="2468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50" dirty="0"/>
          </a:p>
        </p:txBody>
      </p:sp>
      <p:sp>
        <p:nvSpPr>
          <p:cNvPr id="34" name="Text 31"/>
          <p:cNvSpPr txBox="1"/>
          <p:nvPr/>
        </p:nvSpPr>
        <p:spPr>
          <a:xfrm>
            <a:off x="7104888" y="4956048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30" b="1" dirty="0">
                <a:solidFill>
                  <a:srgbClr val="F7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PROGRESSIVE DETAIL</a:t>
            </a:r>
            <a:endParaRPr lang="en-US" sz="1230" dirty="0"/>
          </a:p>
        </p:txBody>
      </p:sp>
      <p:sp>
        <p:nvSpPr>
          <p:cNvPr id="35" name="Text 32"/>
          <p:cNvSpPr txBox="1"/>
          <p:nvPr/>
        </p:nvSpPr>
        <p:spPr>
          <a:xfrm>
            <a:off x="7104888" y="5257800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AAB2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Ask only what the next step needs.</a:t>
            </a:r>
            <a:endParaRPr lang="en-US" sz="1080" dirty="0"/>
          </a:p>
        </p:txBody>
      </p:sp>
      <p:sp>
        <p:nvSpPr>
          <p:cNvPr id="38" name="Text 35"/>
          <p:cNvSpPr txBox="1"/>
          <p:nvPr/>
        </p:nvSpPr>
        <p:spPr>
          <a:xfrm>
            <a:off x="11192256" y="6446520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737D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850" dirty="0"/>
          </a:p>
        </p:txBody>
      </p:sp>
    </p:spTree>
  </p:cSld>
  <p:clrMapOvr>
    <a:masterClrMapping/>
  </p:clrMapOvr>
  <p:transition>
    <p:wipe dir="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914400"/>
            <a:ext cx="4206240" cy="4206240"/>
          </a:xfrm>
          <a:prstGeom prst="ellipse">
            <a:avLst/>
          </a:prstGeom>
          <a:solidFill>
            <a:srgbClr val="FF4E98">
              <a:alpha val="8000"/>
            </a:srgbClr>
          </a:solidFill>
          <a:ln w="12700">
            <a:solidFill>
              <a:srgbClr val="FF4E9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1097280" y="4206240"/>
            <a:ext cx="3657600" cy="3657600"/>
          </a:xfrm>
          <a:prstGeom prst="ellipse">
            <a:avLst/>
          </a:prstGeom>
          <a:solidFill>
            <a:srgbClr val="59D9FF">
              <a:alpha val="6000"/>
            </a:srgbClr>
          </a:solidFill>
          <a:ln w="12700">
            <a:solidFill>
              <a:srgbClr val="59D9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658368" y="38404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b="1" kern="0" spc="170" dirty="0">
                <a:solidFill>
                  <a:srgbClr val="FFD5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/ FEED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713232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F7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scroll that gives something back.</a:t>
            </a:r>
            <a:endParaRPr lang="en-US" sz="290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1426464"/>
            <a:ext cx="10058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20" dirty="0">
                <a:solidFill>
                  <a:srgbClr val="AAB2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feed can be familiar without reproducing the same pressures. Here, scrolling is used for reflection, short practices, reading, and grounded prompts.</a:t>
            </a:r>
            <a:endParaRPr lang="en-US" sz="1520" dirty="0"/>
          </a:p>
        </p:txBody>
      </p:sp>
      <p:sp>
        <p:nvSpPr>
          <p:cNvPr id="7" name="Shape 5"/>
          <p:cNvSpPr/>
          <p:nvPr/>
        </p:nvSpPr>
        <p:spPr>
          <a:xfrm>
            <a:off x="786384" y="2414016"/>
            <a:ext cx="6053328" cy="3584448"/>
          </a:xfrm>
          <a:prstGeom prst="roundRect">
            <a:avLst>
              <a:gd name="adj" fmla="val 3061"/>
            </a:avLst>
          </a:prstGeom>
          <a:solidFill>
            <a:srgbClr val="000000">
              <a:alpha val="3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13232" y="2331720"/>
            <a:ext cx="6053328" cy="3584448"/>
          </a:xfrm>
          <a:prstGeom prst="roundRect">
            <a:avLst>
              <a:gd name="adj" fmla="val 3061"/>
            </a:avLst>
          </a:prstGeom>
          <a:solidFill>
            <a:srgbClr val="101522"/>
          </a:solidFill>
          <a:ln w="12700">
            <a:solidFill>
              <a:srgbClr val="2A33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31520" y="2350008"/>
            <a:ext cx="6016752" cy="301752"/>
          </a:xfrm>
          <a:prstGeom prst="roundRect">
            <a:avLst>
              <a:gd name="adj" fmla="val 24242"/>
            </a:avLst>
          </a:prstGeom>
          <a:solidFill>
            <a:srgbClr val="0B101B"/>
          </a:solidFill>
          <a:ln w="12700">
            <a:solidFill>
              <a:srgbClr val="0B101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850392" y="2450592"/>
            <a:ext cx="64008" cy="64008"/>
          </a:xfrm>
          <a:prstGeom prst="ellipse">
            <a:avLst/>
          </a:prstGeom>
          <a:solidFill>
            <a:srgbClr val="FF4E98"/>
          </a:solidFill>
          <a:ln w="12700">
            <a:solidFill>
              <a:srgbClr val="FF4E9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960120" y="2450592"/>
            <a:ext cx="64008" cy="64008"/>
          </a:xfrm>
          <a:prstGeom prst="ellipse">
            <a:avLst/>
          </a:prstGeom>
          <a:solidFill>
            <a:srgbClr val="FFD51E"/>
          </a:solidFill>
          <a:ln w="12700">
            <a:solidFill>
              <a:srgbClr val="FFD51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069848" y="2450592"/>
            <a:ext cx="64008" cy="64008"/>
          </a:xfrm>
          <a:prstGeom prst="ellipse">
            <a:avLst/>
          </a:prstGeom>
          <a:solidFill>
            <a:srgbClr val="57E3B1"/>
          </a:solidFill>
          <a:ln w="12700">
            <a:solidFill>
              <a:srgbClr val="57E3B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1280160" y="2423160"/>
            <a:ext cx="48188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737D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cultfit-mind / feed</a:t>
            </a:r>
            <a:endParaRPr lang="en-US" sz="750" dirty="0"/>
          </a:p>
        </p:txBody>
      </p:sp>
      <p:pic>
        <p:nvPicPr>
          <p:cNvPr id="14" name="Image 0" descr="/mnt/data/site_screens/feed.png"/>
          <p:cNvPicPr>
            <a:picLocks noChangeAspect="1"/>
          </p:cNvPicPr>
          <p:nvPr/>
        </p:nvPicPr>
        <p:blipFill>
          <a:blip r:embed="rId3"/>
          <a:srcRect t="6960" b="6960"/>
          <a:stretch/>
        </p:blipFill>
        <p:spPr>
          <a:xfrm>
            <a:off x="731520" y="2660904"/>
            <a:ext cx="6016752" cy="3236976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713232" y="2331720"/>
            <a:ext cx="6053328" cy="3584448"/>
          </a:xfrm>
          <a:prstGeom prst="roundRect">
            <a:avLst>
              <a:gd name="adj" fmla="val 3061"/>
            </a:avLst>
          </a:prstGeom>
          <a:solidFill>
            <a:srgbClr val="FFFFFF">
              <a:alpha val="0"/>
            </a:srgbClr>
          </a:solidFill>
          <a:ln w="10160">
            <a:solidFill>
              <a:srgbClr val="566074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 txBox="1"/>
          <p:nvPr/>
        </p:nvSpPr>
        <p:spPr>
          <a:xfrm>
            <a:off x="7077456" y="2450592"/>
            <a:ext cx="3337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30" b="1" kern="0" spc="130" dirty="0">
                <a:solidFill>
                  <a:srgbClr val="FFD5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THE FEED OPTIMIZES FOR</a:t>
            </a:r>
            <a:endParaRPr lang="en-US" sz="930" dirty="0"/>
          </a:p>
        </p:txBody>
      </p:sp>
      <p:sp>
        <p:nvSpPr>
          <p:cNvPr id="17" name="Shape 14"/>
          <p:cNvSpPr/>
          <p:nvPr/>
        </p:nvSpPr>
        <p:spPr>
          <a:xfrm>
            <a:off x="7022592" y="2852928"/>
            <a:ext cx="4114800" cy="347472"/>
          </a:xfrm>
          <a:prstGeom prst="roundRect">
            <a:avLst>
              <a:gd name="adj" fmla="val 26316"/>
            </a:avLst>
          </a:prstGeom>
          <a:solidFill>
            <a:srgbClr val="101522"/>
          </a:solidFill>
          <a:ln w="8890">
            <a:solidFill>
              <a:srgbClr val="59D9FF">
                <a:alpha val="4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 txBox="1"/>
          <p:nvPr/>
        </p:nvSpPr>
        <p:spPr>
          <a:xfrm>
            <a:off x="7205472" y="2962656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10" b="1" kern="0" spc="70" dirty="0">
                <a:solidFill>
                  <a:srgbClr val="59D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REFLECTION</a:t>
            </a:r>
            <a:endParaRPr lang="en-US" sz="810" dirty="0"/>
          </a:p>
        </p:txBody>
      </p:sp>
      <p:sp>
        <p:nvSpPr>
          <p:cNvPr id="19" name="Text 16"/>
          <p:cNvSpPr txBox="1"/>
          <p:nvPr/>
        </p:nvSpPr>
        <p:spPr>
          <a:xfrm>
            <a:off x="8705088" y="2944368"/>
            <a:ext cx="2176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F7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reflection &gt; performance</a:t>
            </a:r>
            <a:endParaRPr lang="en-US" sz="1020" dirty="0"/>
          </a:p>
        </p:txBody>
      </p:sp>
      <p:sp>
        <p:nvSpPr>
          <p:cNvPr id="20" name="Shape 17"/>
          <p:cNvSpPr/>
          <p:nvPr/>
        </p:nvSpPr>
        <p:spPr>
          <a:xfrm>
            <a:off x="7022592" y="3328416"/>
            <a:ext cx="4114800" cy="347472"/>
          </a:xfrm>
          <a:prstGeom prst="roundRect">
            <a:avLst>
              <a:gd name="adj" fmla="val 26316"/>
            </a:avLst>
          </a:prstGeom>
          <a:solidFill>
            <a:srgbClr val="101522"/>
          </a:solidFill>
          <a:ln w="8890">
            <a:solidFill>
              <a:srgbClr val="F7F8FA">
                <a:alpha val="4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 txBox="1"/>
          <p:nvPr/>
        </p:nvSpPr>
        <p:spPr>
          <a:xfrm>
            <a:off x="7205472" y="3439595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10" b="1" kern="0" spc="70" dirty="0">
                <a:solidFill>
                  <a:srgbClr val="F7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LONGER THOUGHTS</a:t>
            </a:r>
            <a:endParaRPr lang="en-US" sz="810" dirty="0"/>
          </a:p>
        </p:txBody>
      </p:sp>
      <p:sp>
        <p:nvSpPr>
          <p:cNvPr id="22" name="Text 19"/>
          <p:cNvSpPr txBox="1"/>
          <p:nvPr/>
        </p:nvSpPr>
        <p:spPr>
          <a:xfrm>
            <a:off x="8705088" y="3411728"/>
            <a:ext cx="2176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F7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 something useful</a:t>
            </a:r>
            <a:endParaRPr lang="en-US" sz="1020" dirty="0"/>
          </a:p>
        </p:txBody>
      </p:sp>
      <p:sp>
        <p:nvSpPr>
          <p:cNvPr id="23" name="Shape 20"/>
          <p:cNvSpPr/>
          <p:nvPr/>
        </p:nvSpPr>
        <p:spPr>
          <a:xfrm>
            <a:off x="7022592" y="3803904"/>
            <a:ext cx="4114800" cy="347472"/>
          </a:xfrm>
          <a:prstGeom prst="roundRect">
            <a:avLst>
              <a:gd name="adj" fmla="val 26316"/>
            </a:avLst>
          </a:prstGeom>
          <a:solidFill>
            <a:srgbClr val="101522"/>
          </a:solidFill>
          <a:ln w="8890">
            <a:solidFill>
              <a:srgbClr val="FF4E98">
                <a:alpha val="4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 txBox="1"/>
          <p:nvPr/>
        </p:nvSpPr>
        <p:spPr>
          <a:xfrm>
            <a:off x="7205472" y="3896360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10" b="1" kern="0" spc="70" dirty="0">
                <a:solidFill>
                  <a:srgbClr val="FF4E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PRACTICE</a:t>
            </a:r>
            <a:endParaRPr lang="en-US" sz="810" dirty="0"/>
          </a:p>
        </p:txBody>
      </p:sp>
      <p:sp>
        <p:nvSpPr>
          <p:cNvPr id="25" name="Text 22"/>
          <p:cNvSpPr txBox="1"/>
          <p:nvPr/>
        </p:nvSpPr>
        <p:spPr>
          <a:xfrm>
            <a:off x="8705088" y="3887216"/>
            <a:ext cx="2176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F7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try something small</a:t>
            </a:r>
            <a:endParaRPr lang="en-US" sz="1020" dirty="0"/>
          </a:p>
        </p:txBody>
      </p:sp>
      <p:sp>
        <p:nvSpPr>
          <p:cNvPr id="26" name="Shape 23"/>
          <p:cNvSpPr/>
          <p:nvPr/>
        </p:nvSpPr>
        <p:spPr>
          <a:xfrm>
            <a:off x="7022592" y="4279392"/>
            <a:ext cx="4114800" cy="347472"/>
          </a:xfrm>
          <a:prstGeom prst="roundRect">
            <a:avLst>
              <a:gd name="adj" fmla="val 26316"/>
            </a:avLst>
          </a:prstGeom>
          <a:solidFill>
            <a:srgbClr val="101522"/>
          </a:solidFill>
          <a:ln w="8890">
            <a:solidFill>
              <a:srgbClr val="57E3B1">
                <a:alpha val="4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 txBox="1"/>
          <p:nvPr/>
        </p:nvSpPr>
        <p:spPr>
          <a:xfrm>
            <a:off x="7205472" y="4371848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10" b="1" kern="0" spc="70" dirty="0">
                <a:solidFill>
                  <a:srgbClr val="57E3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GUIDED CONTENT</a:t>
            </a:r>
            <a:endParaRPr lang="en-US" sz="810" dirty="0"/>
          </a:p>
        </p:txBody>
      </p:sp>
      <p:sp>
        <p:nvSpPr>
          <p:cNvPr id="28" name="Text 25"/>
          <p:cNvSpPr txBox="1"/>
          <p:nvPr/>
        </p:nvSpPr>
        <p:spPr>
          <a:xfrm>
            <a:off x="8705088" y="4362704"/>
            <a:ext cx="2176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F7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 without performing</a:t>
            </a:r>
            <a:endParaRPr lang="en-US" sz="1020" dirty="0"/>
          </a:p>
        </p:txBody>
      </p:sp>
      <p:sp>
        <p:nvSpPr>
          <p:cNvPr id="29" name="Shape 26"/>
          <p:cNvSpPr/>
          <p:nvPr/>
        </p:nvSpPr>
        <p:spPr>
          <a:xfrm>
            <a:off x="7022592" y="4754880"/>
            <a:ext cx="4114800" cy="347472"/>
          </a:xfrm>
          <a:prstGeom prst="roundRect">
            <a:avLst>
              <a:gd name="adj" fmla="val 26316"/>
            </a:avLst>
          </a:prstGeom>
          <a:solidFill>
            <a:srgbClr val="101522"/>
          </a:solidFill>
          <a:ln w="8890">
            <a:solidFill>
              <a:srgbClr val="FFD51E">
                <a:alpha val="4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 txBox="1"/>
          <p:nvPr/>
        </p:nvSpPr>
        <p:spPr>
          <a:xfrm>
            <a:off x="7205472" y="4848352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10" b="1" kern="0" spc="70" dirty="0">
                <a:solidFill>
                  <a:srgbClr val="FFD5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PUBLIC SCORECARD</a:t>
            </a:r>
            <a:endParaRPr lang="en-US" sz="810" dirty="0"/>
          </a:p>
        </p:txBody>
      </p:sp>
      <p:sp>
        <p:nvSpPr>
          <p:cNvPr id="31" name="Text 28"/>
          <p:cNvSpPr txBox="1"/>
          <p:nvPr/>
        </p:nvSpPr>
        <p:spPr>
          <a:xfrm>
            <a:off x="8723376" y="4848352"/>
            <a:ext cx="231177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F7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pressure to perform</a:t>
            </a:r>
            <a:endParaRPr lang="en-US" sz="1020" dirty="0"/>
          </a:p>
        </p:txBody>
      </p:sp>
      <p:sp>
        <p:nvSpPr>
          <p:cNvPr id="32" name="Shape 29"/>
          <p:cNvSpPr/>
          <p:nvPr/>
        </p:nvSpPr>
        <p:spPr>
          <a:xfrm>
            <a:off x="7059168" y="5486400"/>
            <a:ext cx="3547872" cy="246888"/>
          </a:xfrm>
          <a:prstGeom prst="roundRect">
            <a:avLst>
              <a:gd name="adj" fmla="val 51852"/>
            </a:avLst>
          </a:prstGeom>
          <a:solidFill>
            <a:srgbClr val="141B29"/>
          </a:solidFill>
          <a:ln w="8890">
            <a:solidFill>
              <a:srgbClr val="2A3346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 txBox="1"/>
          <p:nvPr/>
        </p:nvSpPr>
        <p:spPr>
          <a:xfrm>
            <a:off x="7132320" y="5500116"/>
            <a:ext cx="34015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kern="0" spc="60" dirty="0">
                <a:solidFill>
                  <a:srgbClr val="FFD5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SCROLL → REFLECT → TRY → CONTINUE</a:t>
            </a:r>
            <a:endParaRPr lang="en-US" sz="880" dirty="0"/>
          </a:p>
        </p:txBody>
      </p:sp>
      <p:sp>
        <p:nvSpPr>
          <p:cNvPr id="36" name="Text 33"/>
          <p:cNvSpPr txBox="1"/>
          <p:nvPr/>
        </p:nvSpPr>
        <p:spPr>
          <a:xfrm>
            <a:off x="11192256" y="6446520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737D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  <p:transition>
    <p:push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914400"/>
            <a:ext cx="4206240" cy="4206240"/>
          </a:xfrm>
          <a:prstGeom prst="ellipse">
            <a:avLst/>
          </a:prstGeom>
          <a:solidFill>
            <a:srgbClr val="FFD51E">
              <a:alpha val="6000"/>
            </a:srgbClr>
          </a:solidFill>
          <a:ln w="12700">
            <a:solidFill>
              <a:srgbClr val="FFD51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572000"/>
            <a:ext cx="3474720" cy="3474720"/>
          </a:xfrm>
          <a:prstGeom prst="ellipse">
            <a:avLst/>
          </a:prstGeom>
          <a:solidFill>
            <a:srgbClr val="FF4E98">
              <a:alpha val="6000"/>
            </a:srgbClr>
          </a:solidFill>
          <a:ln w="12700">
            <a:solidFill>
              <a:srgbClr val="FF4E9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658368" y="38404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b="1" kern="0" spc="170" dirty="0">
                <a:solidFill>
                  <a:srgbClr val="FFD5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 / RESEARCH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713232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F7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problem isn’t scrolling. It’s what the scroll asks you to compare.</a:t>
            </a:r>
            <a:endParaRPr lang="en-US" sz="290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1426464"/>
            <a:ext cx="10058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20" dirty="0">
                <a:solidFill>
                  <a:srgbClr val="AAB2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Recent evidence links higher online social-comparison tendencies with body-image concerns, eating-disorder symptoms and lower positive body image. So, we asked a different UX question: what should the feed reward?</a:t>
            </a:r>
            <a:endParaRPr lang="en-US" sz="1520" dirty="0"/>
          </a:p>
        </p:txBody>
      </p:sp>
      <p:sp>
        <p:nvSpPr>
          <p:cNvPr id="7" name="Shape 5"/>
          <p:cNvSpPr/>
          <p:nvPr/>
        </p:nvSpPr>
        <p:spPr>
          <a:xfrm>
            <a:off x="713232" y="2432304"/>
            <a:ext cx="5577840" cy="3145536"/>
          </a:xfrm>
          <a:prstGeom prst="roundRect">
            <a:avLst>
              <a:gd name="adj" fmla="val 5233"/>
            </a:avLst>
          </a:prstGeom>
          <a:solidFill>
            <a:srgbClr val="101522"/>
          </a:solidFill>
          <a:ln w="8890">
            <a:solidFill>
              <a:srgbClr val="2A3346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950976" y="2670048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20" b="1" kern="0" spc="120" dirty="0">
                <a:solidFill>
                  <a:srgbClr val="FFD5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2025 SYSTEMATIC REVIEW + META-ANALYSIS</a:t>
            </a:r>
            <a:endParaRPr lang="en-US" sz="920" dirty="0"/>
          </a:p>
        </p:txBody>
      </p:sp>
      <p:sp>
        <p:nvSpPr>
          <p:cNvPr id="9" name="Text 7"/>
          <p:cNvSpPr txBox="1"/>
          <p:nvPr/>
        </p:nvSpPr>
        <p:spPr>
          <a:xfrm>
            <a:off x="950976" y="298094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860" b="1" dirty="0">
                <a:solidFill>
                  <a:srgbClr val="F7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83 studies  ·  55,440 participants</a:t>
            </a:r>
            <a:endParaRPr lang="en-US" sz="1860" dirty="0"/>
          </a:p>
        </p:txBody>
      </p:sp>
      <p:sp>
        <p:nvSpPr>
          <p:cNvPr id="10" name="Shape 8"/>
          <p:cNvSpPr/>
          <p:nvPr/>
        </p:nvSpPr>
        <p:spPr>
          <a:xfrm>
            <a:off x="1042416" y="5001768"/>
            <a:ext cx="4791456" cy="0"/>
          </a:xfrm>
          <a:prstGeom prst="line">
            <a:avLst/>
          </a:prstGeom>
          <a:noFill/>
          <a:ln w="13970">
            <a:solidFill>
              <a:srgbClr val="2A3346">
                <a:alpha val="85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042416" y="4590288"/>
            <a:ext cx="4791456" cy="0"/>
          </a:xfrm>
          <a:prstGeom prst="line">
            <a:avLst/>
          </a:prstGeom>
          <a:noFill/>
          <a:ln w="8890">
            <a:solidFill>
              <a:srgbClr val="2A3346">
                <a:alpha val="3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042416" y="4178808"/>
            <a:ext cx="4791456" cy="0"/>
          </a:xfrm>
          <a:prstGeom prst="line">
            <a:avLst/>
          </a:prstGeom>
          <a:noFill/>
          <a:ln w="8890">
            <a:solidFill>
              <a:srgbClr val="2A3346">
                <a:alpha val="3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042416" y="3767328"/>
            <a:ext cx="4791456" cy="0"/>
          </a:xfrm>
          <a:prstGeom prst="line">
            <a:avLst/>
          </a:prstGeom>
          <a:noFill/>
          <a:ln w="8890">
            <a:solidFill>
              <a:srgbClr val="2A3346">
                <a:alpha val="3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950976" y="3675888"/>
            <a:ext cx="2057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40" b="1" dirty="0">
                <a:solidFill>
                  <a:srgbClr val="F7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Body-image concerns</a:t>
            </a:r>
            <a:endParaRPr lang="en-US" sz="940" dirty="0"/>
          </a:p>
        </p:txBody>
      </p:sp>
      <p:sp>
        <p:nvSpPr>
          <p:cNvPr id="15" name="Shape 13"/>
          <p:cNvSpPr/>
          <p:nvPr/>
        </p:nvSpPr>
        <p:spPr>
          <a:xfrm>
            <a:off x="3401568" y="3694176"/>
            <a:ext cx="1920240" cy="132582"/>
          </a:xfrm>
          <a:prstGeom prst="roundRect">
            <a:avLst>
              <a:gd name="adj" fmla="val 38889"/>
            </a:avLst>
          </a:prstGeom>
          <a:solidFill>
            <a:srgbClr val="FF4E98"/>
          </a:solidFill>
          <a:ln w="8890">
            <a:solidFill>
              <a:srgbClr val="FF4E9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5321808" y="3685032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20" b="1" dirty="0">
                <a:solidFill>
                  <a:srgbClr val="FF4E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+0.454</a:t>
            </a:r>
            <a:endParaRPr lang="en-US" sz="920" dirty="0"/>
          </a:p>
        </p:txBody>
      </p:sp>
      <p:sp>
        <p:nvSpPr>
          <p:cNvPr id="17" name="Text 15"/>
          <p:cNvSpPr txBox="1"/>
          <p:nvPr/>
        </p:nvSpPr>
        <p:spPr>
          <a:xfrm>
            <a:off x="950976" y="4187952"/>
            <a:ext cx="2057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40" b="1" dirty="0">
                <a:solidFill>
                  <a:srgbClr val="F7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Eating-disorder symptoms</a:t>
            </a:r>
            <a:endParaRPr lang="en-US" sz="940" dirty="0"/>
          </a:p>
        </p:txBody>
      </p:sp>
      <p:sp>
        <p:nvSpPr>
          <p:cNvPr id="18" name="Shape 16"/>
          <p:cNvSpPr/>
          <p:nvPr/>
        </p:nvSpPr>
        <p:spPr>
          <a:xfrm>
            <a:off x="3401568" y="4206240"/>
            <a:ext cx="1645920" cy="164592"/>
          </a:xfrm>
          <a:prstGeom prst="roundRect">
            <a:avLst>
              <a:gd name="adj" fmla="val 38889"/>
            </a:avLst>
          </a:prstGeom>
          <a:solidFill>
            <a:srgbClr val="FFD51E"/>
          </a:solidFill>
          <a:ln w="8890">
            <a:solidFill>
              <a:srgbClr val="FFD51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5321808" y="4197096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20" b="1" dirty="0">
                <a:solidFill>
                  <a:srgbClr val="FFD5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+0.360</a:t>
            </a:r>
            <a:endParaRPr lang="en-US" sz="920" dirty="0"/>
          </a:p>
        </p:txBody>
      </p:sp>
      <p:sp>
        <p:nvSpPr>
          <p:cNvPr id="20" name="Text 18"/>
          <p:cNvSpPr txBox="1"/>
          <p:nvPr/>
        </p:nvSpPr>
        <p:spPr>
          <a:xfrm>
            <a:off x="950976" y="4700016"/>
            <a:ext cx="2057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40" b="1" dirty="0">
                <a:solidFill>
                  <a:srgbClr val="F7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Positive body image</a:t>
            </a:r>
            <a:endParaRPr lang="en-US" sz="940" dirty="0"/>
          </a:p>
        </p:txBody>
      </p:sp>
      <p:sp>
        <p:nvSpPr>
          <p:cNvPr id="21" name="Shape 19"/>
          <p:cNvSpPr/>
          <p:nvPr/>
        </p:nvSpPr>
        <p:spPr>
          <a:xfrm>
            <a:off x="3402205" y="4718304"/>
            <a:ext cx="1106424" cy="164592"/>
          </a:xfrm>
          <a:prstGeom prst="roundRect">
            <a:avLst>
              <a:gd name="adj" fmla="val 38889"/>
            </a:avLst>
          </a:prstGeom>
          <a:solidFill>
            <a:srgbClr val="59D9FF"/>
          </a:solidFill>
          <a:ln w="8890">
            <a:solidFill>
              <a:srgbClr val="59D9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5321808" y="4709160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20" b="1" dirty="0">
                <a:solidFill>
                  <a:srgbClr val="59D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-0.242</a:t>
            </a:r>
            <a:endParaRPr lang="en-US" sz="920" dirty="0"/>
          </a:p>
        </p:txBody>
      </p:sp>
      <p:sp>
        <p:nvSpPr>
          <p:cNvPr id="23" name="Text 21"/>
          <p:cNvSpPr txBox="1"/>
          <p:nvPr/>
        </p:nvSpPr>
        <p:spPr>
          <a:xfrm>
            <a:off x="950976" y="5230368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737D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weighted average correlation (r)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693408" y="2432304"/>
            <a:ext cx="4526280" cy="3145536"/>
          </a:xfrm>
          <a:prstGeom prst="roundRect">
            <a:avLst>
              <a:gd name="adj" fmla="val 5233"/>
            </a:avLst>
          </a:prstGeom>
          <a:solidFill>
            <a:srgbClr val="101522"/>
          </a:solidFill>
          <a:ln w="8890">
            <a:solidFill>
              <a:srgbClr val="57E3B1">
                <a:alpha val="7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 txBox="1"/>
          <p:nvPr/>
        </p:nvSpPr>
        <p:spPr>
          <a:xfrm>
            <a:off x="6967728" y="2670048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20" b="1" kern="0" spc="130" dirty="0">
                <a:solidFill>
                  <a:srgbClr val="57E3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WE FLIPPED THE INCENTIVE</a:t>
            </a:r>
            <a:endParaRPr lang="en-US" sz="920" dirty="0"/>
          </a:p>
        </p:txBody>
      </p:sp>
      <p:sp>
        <p:nvSpPr>
          <p:cNvPr id="26" name="Shape 24"/>
          <p:cNvSpPr/>
          <p:nvPr/>
        </p:nvSpPr>
        <p:spPr>
          <a:xfrm>
            <a:off x="6949440" y="3072384"/>
            <a:ext cx="1078992" cy="246888"/>
          </a:xfrm>
          <a:prstGeom prst="roundRect">
            <a:avLst>
              <a:gd name="adj" fmla="val 51852"/>
            </a:avLst>
          </a:prstGeom>
          <a:solidFill>
            <a:srgbClr val="141B29"/>
          </a:solidFill>
          <a:ln w="8890">
            <a:solidFill>
              <a:srgbClr val="2A3346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 txBox="1"/>
          <p:nvPr/>
        </p:nvSpPr>
        <p:spPr>
          <a:xfrm>
            <a:off x="7022592" y="3086100"/>
            <a:ext cx="932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10" b="1" kern="0" spc="60" dirty="0">
                <a:solidFill>
                  <a:srgbClr val="FF4E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</a:t>
            </a:r>
            <a:endParaRPr lang="en-US" sz="810" dirty="0"/>
          </a:p>
        </p:txBody>
      </p:sp>
      <p:sp>
        <p:nvSpPr>
          <p:cNvPr id="28" name="Text 26"/>
          <p:cNvSpPr txBox="1"/>
          <p:nvPr/>
        </p:nvSpPr>
        <p:spPr>
          <a:xfrm>
            <a:off x="8129016" y="3099816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7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540496" y="3072384"/>
            <a:ext cx="1719072" cy="246888"/>
          </a:xfrm>
          <a:prstGeom prst="roundRect">
            <a:avLst>
              <a:gd name="adj" fmla="val 51852"/>
            </a:avLst>
          </a:prstGeom>
          <a:solidFill>
            <a:srgbClr val="141B29"/>
          </a:solidFill>
          <a:ln w="8890">
            <a:solidFill>
              <a:srgbClr val="2A3346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 txBox="1"/>
          <p:nvPr/>
        </p:nvSpPr>
        <p:spPr>
          <a:xfrm>
            <a:off x="8613648" y="3086100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10" b="1" kern="0" spc="60" dirty="0">
                <a:solidFill>
                  <a:srgbClr val="59D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REFLECT</a:t>
            </a:r>
            <a:endParaRPr lang="en-US" sz="810" dirty="0"/>
          </a:p>
        </p:txBody>
      </p:sp>
      <p:sp>
        <p:nvSpPr>
          <p:cNvPr id="31" name="Shape 29"/>
          <p:cNvSpPr/>
          <p:nvPr/>
        </p:nvSpPr>
        <p:spPr>
          <a:xfrm>
            <a:off x="6949440" y="3593592"/>
            <a:ext cx="1078992" cy="246888"/>
          </a:xfrm>
          <a:prstGeom prst="roundRect">
            <a:avLst>
              <a:gd name="adj" fmla="val 51852"/>
            </a:avLst>
          </a:prstGeom>
          <a:solidFill>
            <a:srgbClr val="141B29"/>
          </a:solidFill>
          <a:ln w="8890">
            <a:solidFill>
              <a:srgbClr val="2A3346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 txBox="1"/>
          <p:nvPr/>
        </p:nvSpPr>
        <p:spPr>
          <a:xfrm>
            <a:off x="7022592" y="3607308"/>
            <a:ext cx="932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10" b="1" kern="0" spc="60" dirty="0">
                <a:solidFill>
                  <a:srgbClr val="FFD5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PERFORM</a:t>
            </a:r>
            <a:endParaRPr lang="en-US" sz="810" dirty="0"/>
          </a:p>
        </p:txBody>
      </p:sp>
      <p:sp>
        <p:nvSpPr>
          <p:cNvPr id="33" name="Text 31"/>
          <p:cNvSpPr txBox="1"/>
          <p:nvPr/>
        </p:nvSpPr>
        <p:spPr>
          <a:xfrm>
            <a:off x="8129016" y="3621024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7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8540496" y="3593592"/>
            <a:ext cx="1719072" cy="246888"/>
          </a:xfrm>
          <a:prstGeom prst="roundRect">
            <a:avLst>
              <a:gd name="adj" fmla="val 51852"/>
            </a:avLst>
          </a:prstGeom>
          <a:solidFill>
            <a:srgbClr val="141B29"/>
          </a:solidFill>
          <a:ln w="8890">
            <a:solidFill>
              <a:srgbClr val="2A3346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 txBox="1"/>
          <p:nvPr/>
        </p:nvSpPr>
        <p:spPr>
          <a:xfrm>
            <a:off x="8613648" y="3607308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10" b="1" kern="0" spc="60" dirty="0">
                <a:solidFill>
                  <a:srgbClr val="57E3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PRACTICE</a:t>
            </a:r>
            <a:endParaRPr lang="en-US" sz="810" dirty="0"/>
          </a:p>
        </p:txBody>
      </p:sp>
      <p:sp>
        <p:nvSpPr>
          <p:cNvPr id="36" name="Shape 34"/>
          <p:cNvSpPr/>
          <p:nvPr/>
        </p:nvSpPr>
        <p:spPr>
          <a:xfrm>
            <a:off x="6949440" y="4114800"/>
            <a:ext cx="1078992" cy="246888"/>
          </a:xfrm>
          <a:prstGeom prst="roundRect">
            <a:avLst>
              <a:gd name="adj" fmla="val 51852"/>
            </a:avLst>
          </a:prstGeom>
          <a:solidFill>
            <a:srgbClr val="141B29"/>
          </a:solidFill>
          <a:ln w="8890">
            <a:solidFill>
              <a:srgbClr val="2A3346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 txBox="1"/>
          <p:nvPr/>
        </p:nvSpPr>
        <p:spPr>
          <a:xfrm>
            <a:off x="7022592" y="4128516"/>
            <a:ext cx="932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10" b="1" kern="0" spc="60" dirty="0">
                <a:solidFill>
                  <a:srgbClr val="59D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OPTIMIZE</a:t>
            </a:r>
            <a:endParaRPr lang="en-US" sz="810" dirty="0"/>
          </a:p>
        </p:txBody>
      </p:sp>
      <p:sp>
        <p:nvSpPr>
          <p:cNvPr id="38" name="Text 36"/>
          <p:cNvSpPr txBox="1"/>
          <p:nvPr/>
        </p:nvSpPr>
        <p:spPr>
          <a:xfrm>
            <a:off x="8129016" y="4142232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7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8540496" y="4114800"/>
            <a:ext cx="1719072" cy="246888"/>
          </a:xfrm>
          <a:prstGeom prst="roundRect">
            <a:avLst>
              <a:gd name="adj" fmla="val 51852"/>
            </a:avLst>
          </a:prstGeom>
          <a:solidFill>
            <a:srgbClr val="141B29"/>
          </a:solidFill>
          <a:ln w="8890">
            <a:solidFill>
              <a:srgbClr val="2A3346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 txBox="1"/>
          <p:nvPr/>
        </p:nvSpPr>
        <p:spPr>
          <a:xfrm>
            <a:off x="8613648" y="4128516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10" b="1" kern="0" spc="60" dirty="0">
                <a:solidFill>
                  <a:srgbClr val="FF4E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RECOVER</a:t>
            </a:r>
            <a:endParaRPr lang="en-US" sz="810" dirty="0"/>
          </a:p>
        </p:txBody>
      </p:sp>
      <p:sp>
        <p:nvSpPr>
          <p:cNvPr id="41" name="Shape 39"/>
          <p:cNvSpPr/>
          <p:nvPr/>
        </p:nvSpPr>
        <p:spPr>
          <a:xfrm>
            <a:off x="6949440" y="4636008"/>
            <a:ext cx="1078992" cy="246888"/>
          </a:xfrm>
          <a:prstGeom prst="roundRect">
            <a:avLst>
              <a:gd name="adj" fmla="val 51852"/>
            </a:avLst>
          </a:prstGeom>
          <a:solidFill>
            <a:srgbClr val="141B29"/>
          </a:solidFill>
          <a:ln w="8890">
            <a:solidFill>
              <a:srgbClr val="2A3346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 txBox="1"/>
          <p:nvPr/>
        </p:nvSpPr>
        <p:spPr>
          <a:xfrm>
            <a:off x="7022592" y="4649724"/>
            <a:ext cx="932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10" b="1" kern="0" spc="60" dirty="0">
                <a:solidFill>
                  <a:srgbClr val="9B7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LOOK PERFECT</a:t>
            </a:r>
            <a:endParaRPr lang="en-US" sz="810" dirty="0"/>
          </a:p>
        </p:txBody>
      </p:sp>
      <p:sp>
        <p:nvSpPr>
          <p:cNvPr id="43" name="Text 41"/>
          <p:cNvSpPr txBox="1"/>
          <p:nvPr/>
        </p:nvSpPr>
        <p:spPr>
          <a:xfrm>
            <a:off x="8129016" y="4663440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7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8540496" y="4636008"/>
            <a:ext cx="1719072" cy="246888"/>
          </a:xfrm>
          <a:prstGeom prst="roundRect">
            <a:avLst>
              <a:gd name="adj" fmla="val 51852"/>
            </a:avLst>
          </a:prstGeom>
          <a:solidFill>
            <a:srgbClr val="141B29"/>
          </a:solidFill>
          <a:ln w="8890">
            <a:solidFill>
              <a:srgbClr val="2A3346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 txBox="1"/>
          <p:nvPr/>
        </p:nvSpPr>
        <p:spPr>
          <a:xfrm>
            <a:off x="8613648" y="4649724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10" b="1" kern="0" spc="60" dirty="0">
                <a:solidFill>
                  <a:srgbClr val="FFD5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FEEL BETTER</a:t>
            </a:r>
            <a:endParaRPr lang="en-US" sz="810" dirty="0"/>
          </a:p>
        </p:txBody>
      </p:sp>
      <p:sp>
        <p:nvSpPr>
          <p:cNvPr id="46" name="Shape 44"/>
          <p:cNvSpPr/>
          <p:nvPr/>
        </p:nvSpPr>
        <p:spPr>
          <a:xfrm>
            <a:off x="658368" y="6382512"/>
            <a:ext cx="10881360" cy="0"/>
          </a:xfrm>
          <a:prstGeom prst="line">
            <a:avLst/>
          </a:prstGeom>
          <a:noFill/>
          <a:ln w="8890">
            <a:solidFill>
              <a:srgbClr val="2A3346">
                <a:alpha val="7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 txBox="1"/>
          <p:nvPr/>
        </p:nvSpPr>
        <p:spPr>
          <a:xfrm>
            <a:off x="658368" y="6446520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737D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Bonfanti et al., Body Image 52 (2025), DOI 10.1016/j.bodyim.2024.101841. Correlations are associations, not causal effects.</a:t>
            </a:r>
            <a:endParaRPr lang="en-US" sz="750" dirty="0"/>
          </a:p>
        </p:txBody>
      </p:sp>
      <p:sp>
        <p:nvSpPr>
          <p:cNvPr id="48" name="Text 46"/>
          <p:cNvSpPr txBox="1"/>
          <p:nvPr/>
        </p:nvSpPr>
        <p:spPr>
          <a:xfrm>
            <a:off x="11192256" y="6446520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737D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-731520"/>
            <a:ext cx="4389120" cy="4389120"/>
          </a:xfrm>
          <a:prstGeom prst="ellipse">
            <a:avLst/>
          </a:prstGeom>
          <a:solidFill>
            <a:srgbClr val="57E3B1">
              <a:alpha val="6000"/>
            </a:srgbClr>
          </a:solidFill>
          <a:ln w="12700">
            <a:solidFill>
              <a:srgbClr val="57E3B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914400" y="4206240"/>
            <a:ext cx="3657600" cy="3657600"/>
          </a:xfrm>
          <a:prstGeom prst="ellipse">
            <a:avLst/>
          </a:prstGeom>
          <a:solidFill>
            <a:srgbClr val="59D9FF">
              <a:alpha val="6000"/>
            </a:srgbClr>
          </a:solidFill>
          <a:ln w="12700">
            <a:solidFill>
              <a:srgbClr val="59D9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658368" y="38404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b="1" kern="0" spc="170" dirty="0">
                <a:solidFill>
                  <a:srgbClr val="FFD5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 / ACCESSIBILITY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713232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F7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Accessibility isn’t a feature. It’s a default.</a:t>
            </a:r>
            <a:endParaRPr lang="en-US" sz="290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1426464"/>
            <a:ext cx="10058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20" dirty="0">
                <a:solidFill>
                  <a:srgbClr val="AAB2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same calm interface should remain usable when vision, motion tolerance, focus, or reading mode changes.</a:t>
            </a:r>
            <a:endParaRPr lang="en-US" sz="1520" dirty="0"/>
          </a:p>
        </p:txBody>
      </p:sp>
      <p:sp>
        <p:nvSpPr>
          <p:cNvPr id="7" name="Shape 5"/>
          <p:cNvSpPr/>
          <p:nvPr/>
        </p:nvSpPr>
        <p:spPr>
          <a:xfrm>
            <a:off x="731520" y="2377440"/>
            <a:ext cx="3401568" cy="1225296"/>
          </a:xfrm>
          <a:prstGeom prst="roundRect">
            <a:avLst>
              <a:gd name="adj" fmla="val 13433"/>
            </a:avLst>
          </a:prstGeom>
          <a:solidFill>
            <a:srgbClr val="101522"/>
          </a:solidFill>
          <a:ln w="8890">
            <a:solidFill>
              <a:srgbClr val="59D9FF">
                <a:alpha val="7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937260" y="2825496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59D9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2.2B</a:t>
            </a:r>
            <a:endParaRPr lang="en-US" sz="2900" dirty="0"/>
          </a:p>
        </p:txBody>
      </p:sp>
      <p:sp>
        <p:nvSpPr>
          <p:cNvPr id="9" name="Text 7"/>
          <p:cNvSpPr txBox="1"/>
          <p:nvPr/>
        </p:nvSpPr>
        <p:spPr>
          <a:xfrm>
            <a:off x="2240280" y="2578608"/>
            <a:ext cx="169511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AAB2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people with near or distance vision impairment globally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480560" y="2377440"/>
            <a:ext cx="3401568" cy="1225296"/>
          </a:xfrm>
          <a:prstGeom prst="roundRect">
            <a:avLst>
              <a:gd name="adj" fmla="val 13433"/>
            </a:avLst>
          </a:prstGeom>
          <a:solidFill>
            <a:srgbClr val="101522"/>
          </a:solidFill>
          <a:ln w="8890">
            <a:solidFill>
              <a:srgbClr val="FFD51E">
                <a:alpha val="7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4686300" y="2825496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FFD51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4.5:1</a:t>
            </a:r>
            <a:endParaRPr lang="en-US" sz="2900" dirty="0"/>
          </a:p>
        </p:txBody>
      </p:sp>
      <p:sp>
        <p:nvSpPr>
          <p:cNvPr id="12" name="Text 10"/>
          <p:cNvSpPr txBox="1"/>
          <p:nvPr/>
        </p:nvSpPr>
        <p:spPr>
          <a:xfrm>
            <a:off x="5989320" y="2578608"/>
            <a:ext cx="169511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AAB2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WCAG 2.2 AA minimum contrast for normal text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229600" y="2377440"/>
            <a:ext cx="3401568" cy="1225296"/>
          </a:xfrm>
          <a:prstGeom prst="roundRect">
            <a:avLst>
              <a:gd name="adj" fmla="val 13433"/>
            </a:avLst>
          </a:prstGeom>
          <a:solidFill>
            <a:srgbClr val="101522"/>
          </a:solidFill>
          <a:ln w="8890">
            <a:solidFill>
              <a:srgbClr val="FF4E98">
                <a:alpha val="7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8435340" y="2825496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FF4E9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200%</a:t>
            </a:r>
            <a:endParaRPr lang="en-US" sz="2900" dirty="0"/>
          </a:p>
        </p:txBody>
      </p:sp>
      <p:sp>
        <p:nvSpPr>
          <p:cNvPr id="15" name="Text 13"/>
          <p:cNvSpPr txBox="1"/>
          <p:nvPr/>
        </p:nvSpPr>
        <p:spPr>
          <a:xfrm>
            <a:off x="9738360" y="2578608"/>
            <a:ext cx="169511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AAB2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text resize target without losing content or function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49808" y="3931920"/>
            <a:ext cx="4791456" cy="713232"/>
          </a:xfrm>
          <a:prstGeom prst="roundRect">
            <a:avLst>
              <a:gd name="adj" fmla="val 15385"/>
            </a:avLst>
          </a:prstGeom>
          <a:solidFill>
            <a:srgbClr val="101522"/>
          </a:solidFill>
          <a:ln w="8890">
            <a:solidFill>
              <a:srgbClr val="2A3346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914400" y="4096512"/>
            <a:ext cx="246888" cy="246888"/>
          </a:xfrm>
          <a:prstGeom prst="ellipse">
            <a:avLst/>
          </a:prstGeom>
          <a:solidFill>
            <a:srgbClr val="59D9FF"/>
          </a:solidFill>
          <a:ln w="12700">
            <a:solidFill>
              <a:srgbClr val="59D9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914400" y="4146877"/>
            <a:ext cx="2468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850" dirty="0"/>
          </a:p>
        </p:txBody>
      </p:sp>
      <p:sp>
        <p:nvSpPr>
          <p:cNvPr id="19" name="Text 17"/>
          <p:cNvSpPr txBox="1"/>
          <p:nvPr/>
        </p:nvSpPr>
        <p:spPr>
          <a:xfrm>
            <a:off x="1252728" y="4114219"/>
            <a:ext cx="41330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30" b="1" dirty="0">
                <a:solidFill>
                  <a:srgbClr val="F7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 ALOUD</a:t>
            </a:r>
            <a:endParaRPr lang="en-US" sz="1230" dirty="0"/>
          </a:p>
        </p:txBody>
      </p:sp>
      <p:sp>
        <p:nvSpPr>
          <p:cNvPr id="20" name="Text 18"/>
          <p:cNvSpPr txBox="1"/>
          <p:nvPr/>
        </p:nvSpPr>
        <p:spPr>
          <a:xfrm>
            <a:off x="1252728" y="4379976"/>
            <a:ext cx="41330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AAB2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SpeechSynthesisUtterance + visible control</a:t>
            </a:r>
            <a:endParaRPr lang="en-US" sz="1080" dirty="0"/>
          </a:p>
        </p:txBody>
      </p:sp>
      <p:sp>
        <p:nvSpPr>
          <p:cNvPr id="21" name="Shape 19"/>
          <p:cNvSpPr/>
          <p:nvPr/>
        </p:nvSpPr>
        <p:spPr>
          <a:xfrm>
            <a:off x="6382512" y="3931920"/>
            <a:ext cx="4791456" cy="713232"/>
          </a:xfrm>
          <a:prstGeom prst="roundRect">
            <a:avLst>
              <a:gd name="adj" fmla="val 15385"/>
            </a:avLst>
          </a:prstGeom>
          <a:solidFill>
            <a:srgbClr val="101522"/>
          </a:solidFill>
          <a:ln w="8890">
            <a:solidFill>
              <a:srgbClr val="2A3346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547104" y="4096512"/>
            <a:ext cx="246888" cy="246888"/>
          </a:xfrm>
          <a:prstGeom prst="ellipse">
            <a:avLst/>
          </a:prstGeom>
          <a:solidFill>
            <a:srgbClr val="FFD51E"/>
          </a:solidFill>
          <a:ln w="12700">
            <a:solidFill>
              <a:srgbClr val="FFD51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 txBox="1"/>
          <p:nvPr/>
        </p:nvSpPr>
        <p:spPr>
          <a:xfrm>
            <a:off x="6547104" y="4146877"/>
            <a:ext cx="2468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50" dirty="0"/>
          </a:p>
        </p:txBody>
      </p:sp>
      <p:sp>
        <p:nvSpPr>
          <p:cNvPr id="24" name="Text 22"/>
          <p:cNvSpPr txBox="1"/>
          <p:nvPr/>
        </p:nvSpPr>
        <p:spPr>
          <a:xfrm>
            <a:off x="6885432" y="4114219"/>
            <a:ext cx="41330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30" b="1" dirty="0">
                <a:solidFill>
                  <a:srgbClr val="F7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FOCUS VISIBLE</a:t>
            </a:r>
            <a:endParaRPr lang="en-US" sz="1230" dirty="0"/>
          </a:p>
        </p:txBody>
      </p:sp>
      <p:sp>
        <p:nvSpPr>
          <p:cNvPr id="25" name="Text 23"/>
          <p:cNvSpPr txBox="1"/>
          <p:nvPr/>
        </p:nvSpPr>
        <p:spPr>
          <a:xfrm>
            <a:off x="6885432" y="4379976"/>
            <a:ext cx="41330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AAB2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keyboard users see where they are</a:t>
            </a:r>
            <a:endParaRPr lang="en-US" sz="1080" dirty="0"/>
          </a:p>
        </p:txBody>
      </p:sp>
      <p:sp>
        <p:nvSpPr>
          <p:cNvPr id="26" name="Shape 24"/>
          <p:cNvSpPr/>
          <p:nvPr/>
        </p:nvSpPr>
        <p:spPr>
          <a:xfrm>
            <a:off x="749808" y="4809744"/>
            <a:ext cx="4791456" cy="713232"/>
          </a:xfrm>
          <a:prstGeom prst="roundRect">
            <a:avLst>
              <a:gd name="adj" fmla="val 15385"/>
            </a:avLst>
          </a:prstGeom>
          <a:solidFill>
            <a:srgbClr val="101522"/>
          </a:solidFill>
          <a:ln w="8890">
            <a:solidFill>
              <a:srgbClr val="2A3346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914400" y="4974336"/>
            <a:ext cx="246888" cy="246888"/>
          </a:xfrm>
          <a:prstGeom prst="ellipse">
            <a:avLst/>
          </a:prstGeom>
          <a:solidFill>
            <a:srgbClr val="FF4E98"/>
          </a:solidFill>
          <a:ln w="12700">
            <a:solidFill>
              <a:srgbClr val="FF4E9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 txBox="1"/>
          <p:nvPr/>
        </p:nvSpPr>
        <p:spPr>
          <a:xfrm>
            <a:off x="914400" y="5024701"/>
            <a:ext cx="2468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50" dirty="0"/>
          </a:p>
        </p:txBody>
      </p:sp>
      <p:sp>
        <p:nvSpPr>
          <p:cNvPr id="29" name="Text 27"/>
          <p:cNvSpPr txBox="1"/>
          <p:nvPr/>
        </p:nvSpPr>
        <p:spPr>
          <a:xfrm>
            <a:off x="1252728" y="4992043"/>
            <a:ext cx="41330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30" b="1" dirty="0">
                <a:solidFill>
                  <a:srgbClr val="F7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REDUCED MOTION</a:t>
            </a:r>
            <a:endParaRPr lang="en-US" sz="1230" dirty="0"/>
          </a:p>
        </p:txBody>
      </p:sp>
      <p:sp>
        <p:nvSpPr>
          <p:cNvPr id="30" name="Text 28"/>
          <p:cNvSpPr txBox="1"/>
          <p:nvPr/>
        </p:nvSpPr>
        <p:spPr>
          <a:xfrm>
            <a:off x="1252728" y="5257800"/>
            <a:ext cx="41330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AAB2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honour prefers-reduced-motion</a:t>
            </a:r>
            <a:endParaRPr lang="en-US" sz="1080" dirty="0"/>
          </a:p>
        </p:txBody>
      </p:sp>
      <p:sp>
        <p:nvSpPr>
          <p:cNvPr id="31" name="Shape 29"/>
          <p:cNvSpPr/>
          <p:nvPr/>
        </p:nvSpPr>
        <p:spPr>
          <a:xfrm>
            <a:off x="6382512" y="4809744"/>
            <a:ext cx="4791456" cy="713232"/>
          </a:xfrm>
          <a:prstGeom prst="roundRect">
            <a:avLst>
              <a:gd name="adj" fmla="val 15385"/>
            </a:avLst>
          </a:prstGeom>
          <a:solidFill>
            <a:srgbClr val="101522"/>
          </a:solidFill>
          <a:ln w="8890">
            <a:solidFill>
              <a:srgbClr val="2A3346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6547104" y="4974336"/>
            <a:ext cx="246888" cy="246888"/>
          </a:xfrm>
          <a:prstGeom prst="ellipse">
            <a:avLst/>
          </a:prstGeom>
          <a:solidFill>
            <a:srgbClr val="57E3B1"/>
          </a:solidFill>
          <a:ln w="12700">
            <a:solidFill>
              <a:srgbClr val="57E3B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 txBox="1"/>
          <p:nvPr/>
        </p:nvSpPr>
        <p:spPr>
          <a:xfrm>
            <a:off x="6547104" y="5024701"/>
            <a:ext cx="2468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50" dirty="0"/>
          </a:p>
        </p:txBody>
      </p:sp>
      <p:sp>
        <p:nvSpPr>
          <p:cNvPr id="34" name="Text 32"/>
          <p:cNvSpPr txBox="1"/>
          <p:nvPr/>
        </p:nvSpPr>
        <p:spPr>
          <a:xfrm>
            <a:off x="6885432" y="4992043"/>
            <a:ext cx="41330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30" b="1" dirty="0">
                <a:solidFill>
                  <a:srgbClr val="F7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RESPONSIVE</a:t>
            </a:r>
            <a:endParaRPr lang="en-US" sz="1230" dirty="0"/>
          </a:p>
        </p:txBody>
      </p:sp>
      <p:sp>
        <p:nvSpPr>
          <p:cNvPr id="35" name="Text 33"/>
          <p:cNvSpPr txBox="1"/>
          <p:nvPr/>
        </p:nvSpPr>
        <p:spPr>
          <a:xfrm>
            <a:off x="6885432" y="5257800"/>
            <a:ext cx="41330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AAB2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content reflows instead of trapping</a:t>
            </a:r>
            <a:endParaRPr lang="en-US" sz="1080" dirty="0"/>
          </a:p>
        </p:txBody>
      </p:sp>
      <p:sp>
        <p:nvSpPr>
          <p:cNvPr id="36" name="Text 34"/>
          <p:cNvSpPr txBox="1"/>
          <p:nvPr/>
        </p:nvSpPr>
        <p:spPr>
          <a:xfrm>
            <a:off x="749808" y="585216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70" dirty="0">
                <a:solidFill>
                  <a:srgbClr val="737D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WHO: at least 2.2 billion people globally have near or distance vision impairment.</a:t>
            </a:r>
            <a:endParaRPr lang="en-US" sz="870" dirty="0"/>
          </a:p>
        </p:txBody>
      </p:sp>
      <p:sp>
        <p:nvSpPr>
          <p:cNvPr id="37" name="Text 35"/>
          <p:cNvSpPr txBox="1"/>
          <p:nvPr/>
        </p:nvSpPr>
        <p:spPr>
          <a:xfrm>
            <a:off x="8540496" y="5852160"/>
            <a:ext cx="2907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70" b="1" dirty="0">
                <a:solidFill>
                  <a:srgbClr val="FFD5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W3C WCAG 2.2 • WHO (2026)</a:t>
            </a:r>
            <a:endParaRPr lang="en-US" sz="870" dirty="0"/>
          </a:p>
        </p:txBody>
      </p:sp>
      <p:sp>
        <p:nvSpPr>
          <p:cNvPr id="40" name="Text 38"/>
          <p:cNvSpPr txBox="1"/>
          <p:nvPr/>
        </p:nvSpPr>
        <p:spPr>
          <a:xfrm>
            <a:off x="11192256" y="6446520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737D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850" dirty="0"/>
          </a:p>
        </p:txBody>
      </p:sp>
    </p:spTree>
  </p:cSld>
  <p:clrMapOvr>
    <a:masterClrMapping/>
  </p:clrMapOvr>
  <p:transition>
    <p:push dir="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46720" y="-914400"/>
            <a:ext cx="4023360" cy="4023360"/>
          </a:xfrm>
          <a:prstGeom prst="ellipse">
            <a:avLst/>
          </a:prstGeom>
          <a:solidFill>
            <a:srgbClr val="59D9FF">
              <a:alpha val="6000"/>
            </a:srgbClr>
          </a:solidFill>
          <a:ln w="12700">
            <a:solidFill>
              <a:srgbClr val="59D9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206240"/>
            <a:ext cx="3474720" cy="3474720"/>
          </a:xfrm>
          <a:prstGeom prst="ellipse">
            <a:avLst/>
          </a:prstGeom>
          <a:solidFill>
            <a:srgbClr val="9B78FF">
              <a:alpha val="5000"/>
            </a:srgbClr>
          </a:solidFill>
          <a:ln w="12700">
            <a:solidFill>
              <a:srgbClr val="9B78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658368" y="38404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b="1" kern="0" spc="170" dirty="0">
                <a:solidFill>
                  <a:srgbClr val="FFD5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 / MOTION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713232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F7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Motion is a system, not confetti.</a:t>
            </a:r>
            <a:endParaRPr lang="en-US" sz="290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1426464"/>
            <a:ext cx="10058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20" dirty="0">
                <a:solidFill>
                  <a:srgbClr val="AAB2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Animation should guide attention, not demand it. We use soft transitions, restrained ambient movement, and a reduced-motion path for users who prefer less motion.</a:t>
            </a:r>
            <a:endParaRPr lang="en-US" sz="1520" dirty="0"/>
          </a:p>
        </p:txBody>
      </p:sp>
      <p:pic>
        <p:nvPicPr>
          <p:cNvPr id="7" name="Image 0" descr="/mnt/data/motion_assets/wave.gif"/>
          <p:cNvPicPr>
            <a:picLocks noChangeAspect="1"/>
          </p:cNvPicPr>
          <p:nvPr/>
        </p:nvPicPr>
        <p:blipFill>
          <a:blip r:embed="rId3"/>
          <a:srcRect t="14678" b="14678"/>
          <a:stretch/>
        </p:blipFill>
        <p:spPr>
          <a:xfrm>
            <a:off x="8485632" y="2212848"/>
            <a:ext cx="2688336" cy="493776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49808" y="254203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120" dirty="0">
                <a:solidFill>
                  <a:srgbClr val="FFD5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VISUAL RHYTHM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960120" y="3246120"/>
            <a:ext cx="10085832" cy="0"/>
          </a:xfrm>
          <a:prstGeom prst="line">
            <a:avLst/>
          </a:prstGeom>
          <a:noFill/>
          <a:ln w="25400">
            <a:solidFill>
              <a:srgbClr val="2A3346">
                <a:alpha val="8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1828800" y="3090672"/>
            <a:ext cx="310896" cy="310896"/>
          </a:xfrm>
          <a:prstGeom prst="ellipse">
            <a:avLst/>
          </a:prstGeom>
          <a:solidFill>
            <a:srgbClr val="59D9FF"/>
          </a:solidFill>
          <a:ln w="12700">
            <a:solidFill>
              <a:srgbClr val="59D9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1682496" y="2944368"/>
            <a:ext cx="603504" cy="603504"/>
          </a:xfrm>
          <a:prstGeom prst="ellipse">
            <a:avLst/>
          </a:prstGeom>
          <a:solidFill>
            <a:srgbClr val="59D9FF">
              <a:alpha val="8000"/>
            </a:srgbClr>
          </a:solidFill>
          <a:ln w="12700">
            <a:solidFill>
              <a:srgbClr val="59D9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 txBox="1"/>
          <p:nvPr/>
        </p:nvSpPr>
        <p:spPr>
          <a:xfrm>
            <a:off x="1737360" y="3675888"/>
            <a:ext cx="1389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60" b="1" kern="0" spc="100" dirty="0">
                <a:solidFill>
                  <a:srgbClr val="59D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SOFT</a:t>
            </a:r>
            <a:endParaRPr lang="en-US" sz="960" dirty="0"/>
          </a:p>
        </p:txBody>
      </p:sp>
      <p:sp>
        <p:nvSpPr>
          <p:cNvPr id="13" name="Text 10"/>
          <p:cNvSpPr txBox="1"/>
          <p:nvPr/>
        </p:nvSpPr>
        <p:spPr>
          <a:xfrm>
            <a:off x="1627632" y="3977640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70" dirty="0">
                <a:solidFill>
                  <a:srgbClr val="F7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slow drift, not sudden jumps</a:t>
            </a:r>
            <a:endParaRPr lang="en-US" sz="1070" dirty="0"/>
          </a:p>
        </p:txBody>
      </p:sp>
      <p:sp>
        <p:nvSpPr>
          <p:cNvPr id="14" name="Shape 11"/>
          <p:cNvSpPr/>
          <p:nvPr/>
        </p:nvSpPr>
        <p:spPr>
          <a:xfrm>
            <a:off x="4754880" y="3090672"/>
            <a:ext cx="310896" cy="310896"/>
          </a:xfrm>
          <a:prstGeom prst="ellipse">
            <a:avLst/>
          </a:prstGeom>
          <a:solidFill>
            <a:srgbClr val="FF4E98"/>
          </a:solidFill>
          <a:ln w="12700">
            <a:solidFill>
              <a:srgbClr val="FF4E9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4608576" y="2944368"/>
            <a:ext cx="603504" cy="603504"/>
          </a:xfrm>
          <a:prstGeom prst="ellipse">
            <a:avLst/>
          </a:prstGeom>
          <a:solidFill>
            <a:srgbClr val="FF4E98">
              <a:alpha val="8000"/>
            </a:srgbClr>
          </a:solidFill>
          <a:ln w="12700">
            <a:solidFill>
              <a:srgbClr val="FF4E9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 txBox="1"/>
          <p:nvPr/>
        </p:nvSpPr>
        <p:spPr>
          <a:xfrm>
            <a:off x="4663440" y="3675888"/>
            <a:ext cx="1389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60" b="1" kern="0" spc="100" dirty="0">
                <a:solidFill>
                  <a:srgbClr val="FF4E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PREDICTABLE</a:t>
            </a:r>
            <a:endParaRPr lang="en-US" sz="960" dirty="0"/>
          </a:p>
        </p:txBody>
      </p:sp>
      <p:sp>
        <p:nvSpPr>
          <p:cNvPr id="17" name="Text 14"/>
          <p:cNvSpPr txBox="1"/>
          <p:nvPr/>
        </p:nvSpPr>
        <p:spPr>
          <a:xfrm>
            <a:off x="4553712" y="3977640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70" dirty="0">
                <a:solidFill>
                  <a:srgbClr val="F7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 interaction → same response</a:t>
            </a:r>
            <a:endParaRPr lang="en-US" sz="1070" dirty="0"/>
          </a:p>
        </p:txBody>
      </p:sp>
      <p:sp>
        <p:nvSpPr>
          <p:cNvPr id="18" name="Shape 15"/>
          <p:cNvSpPr/>
          <p:nvPr/>
        </p:nvSpPr>
        <p:spPr>
          <a:xfrm>
            <a:off x="7818120" y="3090672"/>
            <a:ext cx="310896" cy="310896"/>
          </a:xfrm>
          <a:prstGeom prst="ellipse">
            <a:avLst/>
          </a:prstGeom>
          <a:solidFill>
            <a:srgbClr val="57E3B1"/>
          </a:solidFill>
          <a:ln w="12700">
            <a:solidFill>
              <a:srgbClr val="57E3B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7671816" y="2944368"/>
            <a:ext cx="603504" cy="603504"/>
          </a:xfrm>
          <a:prstGeom prst="ellipse">
            <a:avLst/>
          </a:prstGeom>
          <a:solidFill>
            <a:srgbClr val="57E3B1">
              <a:alpha val="8000"/>
            </a:srgbClr>
          </a:solidFill>
          <a:ln w="12700">
            <a:solidFill>
              <a:srgbClr val="57E3B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 txBox="1"/>
          <p:nvPr/>
        </p:nvSpPr>
        <p:spPr>
          <a:xfrm>
            <a:off x="7726680" y="3675888"/>
            <a:ext cx="1389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60" b="1" kern="0" spc="100" dirty="0">
                <a:solidFill>
                  <a:srgbClr val="57E3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OPTIONAL</a:t>
            </a:r>
            <a:endParaRPr lang="en-US" sz="960" dirty="0"/>
          </a:p>
        </p:txBody>
      </p:sp>
      <p:sp>
        <p:nvSpPr>
          <p:cNvPr id="21" name="Text 18"/>
          <p:cNvSpPr txBox="1"/>
          <p:nvPr/>
        </p:nvSpPr>
        <p:spPr>
          <a:xfrm>
            <a:off x="7616952" y="3977640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70" dirty="0">
                <a:solidFill>
                  <a:srgbClr val="F7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reduced motion when preferred</a:t>
            </a:r>
            <a:endParaRPr lang="en-US" sz="1070" dirty="0"/>
          </a:p>
        </p:txBody>
      </p:sp>
      <p:sp>
        <p:nvSpPr>
          <p:cNvPr id="22" name="Shape 19"/>
          <p:cNvSpPr/>
          <p:nvPr/>
        </p:nvSpPr>
        <p:spPr>
          <a:xfrm>
            <a:off x="749808" y="4809744"/>
            <a:ext cx="10479024" cy="786384"/>
          </a:xfrm>
          <a:prstGeom prst="roundRect">
            <a:avLst>
              <a:gd name="adj" fmla="val 18605"/>
            </a:avLst>
          </a:prstGeom>
          <a:solidFill>
            <a:srgbClr val="101522"/>
          </a:solidFill>
          <a:ln w="8890">
            <a:solidFill>
              <a:srgbClr val="2A3346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 txBox="1"/>
          <p:nvPr/>
        </p:nvSpPr>
        <p:spPr>
          <a:xfrm>
            <a:off x="1161904" y="5062347"/>
            <a:ext cx="3748424" cy="27774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59D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prefers-reduced-motion: reduce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4320901" y="5062601"/>
            <a:ext cx="5060373" cy="27774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20" b="1" dirty="0">
                <a:solidFill>
                  <a:srgbClr val="F7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 reduce non-essential transitions + animation</a:t>
            </a:r>
            <a:endParaRPr lang="en-US" sz="1120" dirty="0"/>
          </a:p>
        </p:txBody>
      </p:sp>
      <p:sp>
        <p:nvSpPr>
          <p:cNvPr id="25" name="Shape 22"/>
          <p:cNvSpPr/>
          <p:nvPr/>
        </p:nvSpPr>
        <p:spPr>
          <a:xfrm>
            <a:off x="8895338" y="5079492"/>
            <a:ext cx="1051560" cy="246888"/>
          </a:xfrm>
          <a:prstGeom prst="roundRect">
            <a:avLst>
              <a:gd name="adj" fmla="val 51852"/>
            </a:avLst>
          </a:prstGeom>
          <a:solidFill>
            <a:srgbClr val="141B29"/>
          </a:solidFill>
          <a:ln w="8890">
            <a:solidFill>
              <a:srgbClr val="2A3346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6" name="Text 23"/>
          <p:cNvSpPr txBox="1"/>
          <p:nvPr/>
        </p:nvSpPr>
        <p:spPr>
          <a:xfrm>
            <a:off x="8810745" y="5017770"/>
            <a:ext cx="1236980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kern="0" spc="60" dirty="0">
                <a:solidFill>
                  <a:srgbClr val="FFD5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W3C 2.3.3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10314431" y="5079492"/>
            <a:ext cx="621792" cy="246888"/>
          </a:xfrm>
          <a:prstGeom prst="roundRect">
            <a:avLst>
              <a:gd name="adj" fmla="val 51852"/>
            </a:avLst>
          </a:prstGeom>
          <a:solidFill>
            <a:srgbClr val="141B29"/>
          </a:solidFill>
          <a:ln w="8890">
            <a:solidFill>
              <a:srgbClr val="2A3346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8" name="Text 25"/>
          <p:cNvSpPr txBox="1"/>
          <p:nvPr/>
        </p:nvSpPr>
        <p:spPr>
          <a:xfrm>
            <a:off x="10314431" y="5022595"/>
            <a:ext cx="649727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kern="0" spc="60" dirty="0">
                <a:solidFill>
                  <a:srgbClr val="57E3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MDN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58368" y="6382512"/>
            <a:ext cx="10881360" cy="0"/>
          </a:xfrm>
          <a:prstGeom prst="line">
            <a:avLst/>
          </a:prstGeom>
          <a:noFill/>
          <a:ln w="8890">
            <a:solidFill>
              <a:srgbClr val="2A3346">
                <a:alpha val="7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 txBox="1"/>
          <p:nvPr/>
        </p:nvSpPr>
        <p:spPr>
          <a:xfrm>
            <a:off x="658368" y="6446520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737D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Sources: W3C WCAG 2.2 / SC 2.3.3; W3C Technique C39; MDN prefers-reduced-motion; site implementation.</a:t>
            </a:r>
            <a:endParaRPr lang="en-US" sz="750" dirty="0"/>
          </a:p>
        </p:txBody>
      </p:sp>
      <p:sp>
        <p:nvSpPr>
          <p:cNvPr id="31" name="Text 28"/>
          <p:cNvSpPr txBox="1"/>
          <p:nvPr/>
        </p:nvSpPr>
        <p:spPr>
          <a:xfrm>
            <a:off x="11192256" y="6446520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737D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7732" y="-923544"/>
            <a:ext cx="4114800" cy="4114800"/>
          </a:xfrm>
          <a:prstGeom prst="ellipse">
            <a:avLst/>
          </a:prstGeom>
          <a:solidFill>
            <a:srgbClr val="FF4E98">
              <a:alpha val="6000"/>
            </a:srgbClr>
          </a:solidFill>
          <a:ln w="12700">
            <a:solidFill>
              <a:srgbClr val="FF4E9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914400" y="3840480"/>
            <a:ext cx="3474720" cy="3474720"/>
          </a:xfrm>
          <a:prstGeom prst="ellipse">
            <a:avLst/>
          </a:prstGeom>
          <a:solidFill>
            <a:srgbClr val="FFD51E">
              <a:alpha val="5000"/>
            </a:srgbClr>
          </a:solidFill>
          <a:ln w="12700">
            <a:solidFill>
              <a:srgbClr val="FFD51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658368" y="38404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b="1" kern="0" spc="170" dirty="0">
                <a:solidFill>
                  <a:srgbClr val="FFD5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 / SUPPORT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713232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F7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Some moments can’t wait for a booking.</a:t>
            </a:r>
            <a:endParaRPr lang="en-US" sz="290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1426464"/>
            <a:ext cx="10058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20" dirty="0">
                <a:solidFill>
                  <a:srgbClr val="AAB2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therapist appointment may take time. The product can still provide useful, immediate pathways — while keeping professional support visible when it is needed.</a:t>
            </a:r>
            <a:endParaRPr lang="en-US" sz="1520" dirty="0"/>
          </a:p>
        </p:txBody>
      </p:sp>
      <p:sp>
        <p:nvSpPr>
          <p:cNvPr id="7" name="Shape 5"/>
          <p:cNvSpPr/>
          <p:nvPr/>
        </p:nvSpPr>
        <p:spPr>
          <a:xfrm>
            <a:off x="749808" y="2761488"/>
            <a:ext cx="2487168" cy="1645920"/>
          </a:xfrm>
          <a:prstGeom prst="roundRect">
            <a:avLst>
              <a:gd name="adj" fmla="val 10000"/>
            </a:avLst>
          </a:prstGeom>
          <a:solidFill>
            <a:srgbClr val="101522"/>
          </a:solidFill>
          <a:ln w="8890">
            <a:solidFill>
              <a:srgbClr val="59D9FF">
                <a:alpha val="7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932688" y="2870200"/>
            <a:ext cx="438912" cy="246888"/>
          </a:xfrm>
          <a:prstGeom prst="roundRect">
            <a:avLst>
              <a:gd name="adj" fmla="val 51852"/>
            </a:avLst>
          </a:prstGeom>
          <a:solidFill>
            <a:srgbClr val="59D9FF"/>
          </a:solidFill>
          <a:ln w="8890">
            <a:solidFill>
              <a:srgbClr val="59D9FF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1005840" y="2883916"/>
            <a:ext cx="292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kern="0" spc="6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841248" y="342900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540" b="1" dirty="0">
                <a:solidFill>
                  <a:srgbClr val="F7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SELF-GUIDED</a:t>
            </a:r>
            <a:endParaRPr lang="en-US" sz="1540" dirty="0"/>
          </a:p>
        </p:txBody>
      </p:sp>
      <p:sp>
        <p:nvSpPr>
          <p:cNvPr id="11" name="Text 9"/>
          <p:cNvSpPr txBox="1"/>
          <p:nvPr/>
        </p:nvSpPr>
        <p:spPr>
          <a:xfrm>
            <a:off x="932688" y="3794760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AAB2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breathing • grounding • meditation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91840" y="3566160"/>
            <a:ext cx="292608" cy="0"/>
          </a:xfrm>
          <a:prstGeom prst="line">
            <a:avLst/>
          </a:prstGeom>
          <a:noFill/>
          <a:ln w="15240">
            <a:solidFill>
              <a:srgbClr val="F7F8FA">
                <a:alpha val="85000"/>
              </a:srgbClr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2400" b="1"/>
          </a:p>
        </p:txBody>
      </p:sp>
      <p:sp>
        <p:nvSpPr>
          <p:cNvPr id="13" name="Shape 11"/>
          <p:cNvSpPr/>
          <p:nvPr/>
        </p:nvSpPr>
        <p:spPr>
          <a:xfrm>
            <a:off x="3584448" y="2761488"/>
            <a:ext cx="2487168" cy="1645920"/>
          </a:xfrm>
          <a:prstGeom prst="roundRect">
            <a:avLst>
              <a:gd name="adj" fmla="val 10000"/>
            </a:avLst>
          </a:prstGeom>
          <a:solidFill>
            <a:srgbClr val="101522"/>
          </a:solidFill>
          <a:ln w="8890">
            <a:solidFill>
              <a:srgbClr val="FFD51E">
                <a:alpha val="7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767328" y="2870200"/>
            <a:ext cx="438912" cy="246888"/>
          </a:xfrm>
          <a:prstGeom prst="roundRect">
            <a:avLst>
              <a:gd name="adj" fmla="val 51852"/>
            </a:avLst>
          </a:prstGeom>
          <a:solidFill>
            <a:srgbClr val="FFD51E"/>
          </a:solidFill>
          <a:ln w="8890">
            <a:solidFill>
              <a:srgbClr val="FFD51E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3840480" y="2883916"/>
            <a:ext cx="292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kern="0" spc="6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3748786" y="3465576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540" b="1" dirty="0">
                <a:solidFill>
                  <a:srgbClr val="F7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EDUCATION</a:t>
            </a:r>
            <a:endParaRPr lang="en-US" sz="1540" dirty="0"/>
          </a:p>
        </p:txBody>
      </p:sp>
      <p:sp>
        <p:nvSpPr>
          <p:cNvPr id="17" name="Text 15"/>
          <p:cNvSpPr txBox="1"/>
          <p:nvPr/>
        </p:nvSpPr>
        <p:spPr>
          <a:xfrm>
            <a:off x="3767328" y="3794760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AAB2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 • understand • reflect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071616" y="3566160"/>
            <a:ext cx="347472" cy="0"/>
          </a:xfrm>
          <a:prstGeom prst="line">
            <a:avLst/>
          </a:prstGeom>
          <a:noFill/>
          <a:ln w="15240">
            <a:solidFill>
              <a:srgbClr val="F7F8FA">
                <a:alpha val="85000"/>
              </a:srgbClr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2400" b="1"/>
          </a:p>
        </p:txBody>
      </p:sp>
      <p:sp>
        <p:nvSpPr>
          <p:cNvPr id="19" name="Shape 17"/>
          <p:cNvSpPr/>
          <p:nvPr/>
        </p:nvSpPr>
        <p:spPr>
          <a:xfrm>
            <a:off x="6419088" y="2761488"/>
            <a:ext cx="2487168" cy="1645920"/>
          </a:xfrm>
          <a:prstGeom prst="roundRect">
            <a:avLst>
              <a:gd name="adj" fmla="val 10000"/>
            </a:avLst>
          </a:prstGeom>
          <a:solidFill>
            <a:srgbClr val="101522"/>
          </a:solidFill>
          <a:ln w="8890">
            <a:solidFill>
              <a:srgbClr val="57E3B1">
                <a:alpha val="7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601968" y="2870200"/>
            <a:ext cx="438912" cy="246888"/>
          </a:xfrm>
          <a:prstGeom prst="roundRect">
            <a:avLst>
              <a:gd name="adj" fmla="val 51852"/>
            </a:avLst>
          </a:prstGeom>
          <a:solidFill>
            <a:srgbClr val="57E3B1"/>
          </a:solidFill>
          <a:ln w="8890">
            <a:solidFill>
              <a:srgbClr val="57E3B1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6675120" y="2883916"/>
            <a:ext cx="292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kern="0" spc="6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6583426" y="345389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540" b="1" dirty="0">
                <a:solidFill>
                  <a:srgbClr val="F7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TRACK</a:t>
            </a:r>
            <a:endParaRPr lang="en-US" sz="1540" dirty="0"/>
          </a:p>
        </p:txBody>
      </p:sp>
      <p:sp>
        <p:nvSpPr>
          <p:cNvPr id="23" name="Text 21"/>
          <p:cNvSpPr txBox="1"/>
          <p:nvPr/>
        </p:nvSpPr>
        <p:spPr>
          <a:xfrm>
            <a:off x="6601968" y="3794760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AAB2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mood • habits • patterns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906256" y="3566160"/>
            <a:ext cx="347472" cy="0"/>
          </a:xfrm>
          <a:prstGeom prst="line">
            <a:avLst/>
          </a:prstGeom>
          <a:noFill/>
          <a:ln w="15240">
            <a:solidFill>
              <a:srgbClr val="F7F8FA">
                <a:alpha val="85000"/>
              </a:srgbClr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2400" b="1"/>
          </a:p>
        </p:txBody>
      </p:sp>
      <p:sp>
        <p:nvSpPr>
          <p:cNvPr id="25" name="Shape 23"/>
          <p:cNvSpPr/>
          <p:nvPr/>
        </p:nvSpPr>
        <p:spPr>
          <a:xfrm>
            <a:off x="9253728" y="2761488"/>
            <a:ext cx="2487168" cy="1645920"/>
          </a:xfrm>
          <a:prstGeom prst="roundRect">
            <a:avLst>
              <a:gd name="adj" fmla="val 10000"/>
            </a:avLst>
          </a:prstGeom>
          <a:solidFill>
            <a:srgbClr val="101522"/>
          </a:solidFill>
          <a:ln w="8890">
            <a:solidFill>
              <a:srgbClr val="FF4E98">
                <a:alpha val="7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9436608" y="2870200"/>
            <a:ext cx="438912" cy="246888"/>
          </a:xfrm>
          <a:prstGeom prst="roundRect">
            <a:avLst>
              <a:gd name="adj" fmla="val 51852"/>
            </a:avLst>
          </a:prstGeom>
          <a:solidFill>
            <a:srgbClr val="FF4E98"/>
          </a:solidFill>
          <a:ln w="8890">
            <a:solidFill>
              <a:srgbClr val="FF4E98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 txBox="1"/>
          <p:nvPr/>
        </p:nvSpPr>
        <p:spPr>
          <a:xfrm>
            <a:off x="9509760" y="2883916"/>
            <a:ext cx="292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kern="0" spc="6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9436608" y="345389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540" b="1" dirty="0">
                <a:solidFill>
                  <a:srgbClr val="F7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 SUPPORT</a:t>
            </a:r>
            <a:endParaRPr lang="en-US" sz="1540" dirty="0"/>
          </a:p>
        </p:txBody>
      </p:sp>
      <p:sp>
        <p:nvSpPr>
          <p:cNvPr id="29" name="Text 27"/>
          <p:cNvSpPr txBox="1"/>
          <p:nvPr/>
        </p:nvSpPr>
        <p:spPr>
          <a:xfrm>
            <a:off x="9436608" y="3794760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AAB2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specialists • continuity • booking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49808" y="5010912"/>
            <a:ext cx="10607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7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Not every problem needs an appointment. Not every problem can wait for one either.</a:t>
            </a:r>
            <a:endParaRPr lang="en-US" sz="2000" dirty="0"/>
          </a:p>
        </p:txBody>
      </p:sp>
      <p:sp>
        <p:nvSpPr>
          <p:cNvPr id="31" name="Text 29"/>
          <p:cNvSpPr txBox="1"/>
          <p:nvPr/>
        </p:nvSpPr>
        <p:spPr>
          <a:xfrm>
            <a:off x="3493008" y="5504688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kern="0" spc="120" dirty="0">
                <a:solidFill>
                  <a:srgbClr val="FFD5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continuous support &gt; single touchpoint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11192256" y="6446520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737D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850" dirty="0"/>
          </a:p>
        </p:txBody>
      </p:sp>
    </p:spTree>
  </p:cSld>
  <p:clrMapOvr>
    <a:masterClrMapping/>
  </p:clrMapOvr>
  <p:transition>
    <p:wipe dir="r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46720" y="-914400"/>
            <a:ext cx="4023360" cy="4023360"/>
          </a:xfrm>
          <a:prstGeom prst="ellipse">
            <a:avLst/>
          </a:prstGeom>
          <a:solidFill>
            <a:srgbClr val="57E3B1">
              <a:alpha val="6000"/>
            </a:srgbClr>
          </a:solidFill>
          <a:ln w="12700">
            <a:solidFill>
              <a:srgbClr val="57E3B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206240"/>
            <a:ext cx="3657600" cy="3657600"/>
          </a:xfrm>
          <a:prstGeom prst="ellipse">
            <a:avLst/>
          </a:prstGeom>
          <a:solidFill>
            <a:srgbClr val="FFD51E">
              <a:alpha val="5000"/>
            </a:srgbClr>
          </a:solidFill>
          <a:ln w="12700">
            <a:solidFill>
              <a:srgbClr val="FFD51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658368" y="38404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b="1" kern="0" spc="170" dirty="0">
                <a:solidFill>
                  <a:srgbClr val="FFD5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 / GROWTH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713232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F7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 designed for patterns, not just moments.</a:t>
            </a:r>
            <a:endParaRPr lang="en-US" sz="290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1426464"/>
            <a:ext cx="10058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20" dirty="0">
                <a:solidFill>
                  <a:srgbClr val="AAB2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Mood alone is not the point. The value is seeing how mood sits alongside sleep, activity, meditation, habits, journaling and therapy over time.</a:t>
            </a:r>
            <a:endParaRPr lang="en-US" sz="1520" dirty="0"/>
          </a:p>
        </p:txBody>
      </p:sp>
      <p:sp>
        <p:nvSpPr>
          <p:cNvPr id="7" name="Shape 5"/>
          <p:cNvSpPr/>
          <p:nvPr/>
        </p:nvSpPr>
        <p:spPr>
          <a:xfrm>
            <a:off x="786384" y="2350008"/>
            <a:ext cx="5321808" cy="3639312"/>
          </a:xfrm>
          <a:prstGeom prst="roundRect">
            <a:avLst>
              <a:gd name="adj" fmla="val 3015"/>
            </a:avLst>
          </a:prstGeom>
          <a:solidFill>
            <a:srgbClr val="000000">
              <a:alpha val="3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13232" y="2267712"/>
            <a:ext cx="5321808" cy="3639312"/>
          </a:xfrm>
          <a:prstGeom prst="roundRect">
            <a:avLst>
              <a:gd name="adj" fmla="val 3015"/>
            </a:avLst>
          </a:prstGeom>
          <a:solidFill>
            <a:srgbClr val="101522"/>
          </a:solidFill>
          <a:ln w="12700">
            <a:solidFill>
              <a:srgbClr val="2A33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31520" y="2286000"/>
            <a:ext cx="5285232" cy="301752"/>
          </a:xfrm>
          <a:prstGeom prst="roundRect">
            <a:avLst>
              <a:gd name="adj" fmla="val 24242"/>
            </a:avLst>
          </a:prstGeom>
          <a:solidFill>
            <a:srgbClr val="0B101B"/>
          </a:solidFill>
          <a:ln w="12700">
            <a:solidFill>
              <a:srgbClr val="0B101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850392" y="2386584"/>
            <a:ext cx="64008" cy="64008"/>
          </a:xfrm>
          <a:prstGeom prst="ellipse">
            <a:avLst/>
          </a:prstGeom>
          <a:solidFill>
            <a:srgbClr val="FF4E98"/>
          </a:solidFill>
          <a:ln w="12700">
            <a:solidFill>
              <a:srgbClr val="FF4E9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960120" y="2386584"/>
            <a:ext cx="64008" cy="64008"/>
          </a:xfrm>
          <a:prstGeom prst="ellipse">
            <a:avLst/>
          </a:prstGeom>
          <a:solidFill>
            <a:srgbClr val="FFD51E"/>
          </a:solidFill>
          <a:ln w="12700">
            <a:solidFill>
              <a:srgbClr val="FFD51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069848" y="2386584"/>
            <a:ext cx="64008" cy="64008"/>
          </a:xfrm>
          <a:prstGeom prst="ellipse">
            <a:avLst/>
          </a:prstGeom>
          <a:solidFill>
            <a:srgbClr val="57E3B1"/>
          </a:solidFill>
          <a:ln w="12700">
            <a:solidFill>
              <a:srgbClr val="57E3B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1280160" y="2359152"/>
            <a:ext cx="4087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737D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cultfit-mind / growth</a:t>
            </a:r>
            <a:endParaRPr lang="en-US" sz="750" dirty="0"/>
          </a:p>
        </p:txBody>
      </p:sp>
      <p:pic>
        <p:nvPicPr>
          <p:cNvPr id="14" name="Image 0" descr="/mnt/data/site_screens/growth.png"/>
          <p:cNvPicPr>
            <a:picLocks noChangeAspect="1"/>
          </p:cNvPicPr>
          <p:nvPr/>
        </p:nvPicPr>
        <p:blipFill>
          <a:blip r:embed="rId3"/>
          <a:srcRect t="173" b="173"/>
          <a:stretch/>
        </p:blipFill>
        <p:spPr>
          <a:xfrm>
            <a:off x="731520" y="2596896"/>
            <a:ext cx="5285232" cy="3291840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713232" y="2267712"/>
            <a:ext cx="5321808" cy="3639312"/>
          </a:xfrm>
          <a:prstGeom prst="roundRect">
            <a:avLst>
              <a:gd name="adj" fmla="val 3015"/>
            </a:avLst>
          </a:prstGeom>
          <a:solidFill>
            <a:srgbClr val="FFFFFF">
              <a:alpha val="0"/>
            </a:srgbClr>
          </a:solidFill>
          <a:ln w="10160">
            <a:solidFill>
              <a:srgbClr val="566074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6382512" y="2340864"/>
            <a:ext cx="4791456" cy="3566160"/>
          </a:xfrm>
          <a:prstGeom prst="roundRect">
            <a:avLst>
              <a:gd name="adj" fmla="val 4615"/>
            </a:avLst>
          </a:prstGeom>
          <a:solidFill>
            <a:srgbClr val="101522"/>
          </a:solidFill>
          <a:ln w="8890">
            <a:solidFill>
              <a:srgbClr val="2A3346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 txBox="1"/>
          <p:nvPr/>
        </p:nvSpPr>
        <p:spPr>
          <a:xfrm>
            <a:off x="6620256" y="2596896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20" b="1" kern="0" spc="120" dirty="0">
                <a:solidFill>
                  <a:srgbClr val="FFD5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7-DAY MOOD TREND</a:t>
            </a:r>
            <a:endParaRPr lang="en-US" sz="920" dirty="0"/>
          </a:p>
        </p:txBody>
      </p:sp>
      <p:sp>
        <p:nvSpPr>
          <p:cNvPr id="18" name="Shape 15"/>
          <p:cNvSpPr/>
          <p:nvPr/>
        </p:nvSpPr>
        <p:spPr>
          <a:xfrm>
            <a:off x="6693408" y="5029200"/>
            <a:ext cx="4114800" cy="0"/>
          </a:xfrm>
          <a:prstGeom prst="line">
            <a:avLst/>
          </a:prstGeom>
          <a:noFill/>
          <a:ln w="12700">
            <a:solidFill>
              <a:srgbClr val="2A3346">
                <a:alpha val="85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6693408" y="3054096"/>
            <a:ext cx="0" cy="1975104"/>
          </a:xfrm>
          <a:prstGeom prst="line">
            <a:avLst/>
          </a:prstGeom>
          <a:noFill/>
          <a:ln w="12700">
            <a:solidFill>
              <a:srgbClr val="2A3346">
                <a:alpha val="85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 flipV="1">
            <a:off x="6803136" y="3968496"/>
            <a:ext cx="617215" cy="164592"/>
          </a:xfrm>
          <a:prstGeom prst="line">
            <a:avLst/>
          </a:prstGeom>
          <a:noFill/>
          <a:ln w="27940">
            <a:solidFill>
              <a:srgbClr val="59D9F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7424928" y="3950208"/>
            <a:ext cx="621792" cy="73152"/>
          </a:xfrm>
          <a:prstGeom prst="line">
            <a:avLst/>
          </a:prstGeom>
          <a:noFill/>
          <a:ln w="27940">
            <a:solidFill>
              <a:srgbClr val="FF4E9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 flipV="1">
            <a:off x="8046719" y="3817620"/>
            <a:ext cx="626369" cy="205740"/>
          </a:xfrm>
          <a:prstGeom prst="line">
            <a:avLst/>
          </a:prstGeom>
          <a:noFill/>
          <a:ln w="27940">
            <a:solidFill>
              <a:srgbClr val="59D9F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8668512" y="3803904"/>
            <a:ext cx="621792" cy="274320"/>
          </a:xfrm>
          <a:prstGeom prst="line">
            <a:avLst/>
          </a:prstGeom>
          <a:noFill/>
          <a:ln w="27940">
            <a:solidFill>
              <a:srgbClr val="FF4E9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 flipV="1">
            <a:off x="9290303" y="3685032"/>
            <a:ext cx="626363" cy="393192"/>
          </a:xfrm>
          <a:prstGeom prst="line">
            <a:avLst/>
          </a:prstGeom>
          <a:noFill/>
          <a:ln w="27940">
            <a:solidFill>
              <a:srgbClr val="59D9F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9912096" y="3657600"/>
            <a:ext cx="621792" cy="109728"/>
          </a:xfrm>
          <a:prstGeom prst="line">
            <a:avLst/>
          </a:prstGeom>
          <a:noFill/>
          <a:ln w="27940">
            <a:solidFill>
              <a:srgbClr val="FF4E9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6752844" y="4082796"/>
            <a:ext cx="100584" cy="100584"/>
          </a:xfrm>
          <a:prstGeom prst="ellipse">
            <a:avLst/>
          </a:prstGeom>
          <a:solidFill>
            <a:srgbClr val="F7F8FA"/>
          </a:solidFill>
          <a:ln w="12700">
            <a:solidFill>
              <a:srgbClr val="F7F8F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>
            <a:off x="7374636" y="3899916"/>
            <a:ext cx="100584" cy="100584"/>
          </a:xfrm>
          <a:prstGeom prst="ellipse">
            <a:avLst/>
          </a:prstGeom>
          <a:solidFill>
            <a:srgbClr val="F7F8FA"/>
          </a:solidFill>
          <a:ln w="12700">
            <a:solidFill>
              <a:srgbClr val="F7F8F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>
            <a:off x="7996428" y="3973068"/>
            <a:ext cx="100584" cy="100584"/>
          </a:xfrm>
          <a:prstGeom prst="ellipse">
            <a:avLst/>
          </a:prstGeom>
          <a:solidFill>
            <a:srgbClr val="F7F8FA"/>
          </a:solidFill>
          <a:ln w="12700">
            <a:solidFill>
              <a:srgbClr val="F7F8F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8618220" y="3753612"/>
            <a:ext cx="100584" cy="100584"/>
          </a:xfrm>
          <a:prstGeom prst="ellipse">
            <a:avLst/>
          </a:prstGeom>
          <a:solidFill>
            <a:srgbClr val="F7F8FA"/>
          </a:solidFill>
          <a:ln w="12700">
            <a:solidFill>
              <a:srgbClr val="F7F8F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7"/>
          <p:cNvSpPr/>
          <p:nvPr/>
        </p:nvSpPr>
        <p:spPr>
          <a:xfrm>
            <a:off x="9240012" y="4027932"/>
            <a:ext cx="100584" cy="100584"/>
          </a:xfrm>
          <a:prstGeom prst="ellipse">
            <a:avLst/>
          </a:prstGeom>
          <a:solidFill>
            <a:srgbClr val="F7F8FA"/>
          </a:solidFill>
          <a:ln w="12700">
            <a:solidFill>
              <a:srgbClr val="F7F8F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8"/>
          <p:cNvSpPr/>
          <p:nvPr/>
        </p:nvSpPr>
        <p:spPr>
          <a:xfrm>
            <a:off x="9861804" y="3607308"/>
            <a:ext cx="100584" cy="100584"/>
          </a:xfrm>
          <a:prstGeom prst="ellipse">
            <a:avLst/>
          </a:prstGeom>
          <a:solidFill>
            <a:srgbClr val="F7F8FA"/>
          </a:solidFill>
          <a:ln w="12700">
            <a:solidFill>
              <a:srgbClr val="F7F8F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29"/>
          <p:cNvSpPr/>
          <p:nvPr/>
        </p:nvSpPr>
        <p:spPr>
          <a:xfrm>
            <a:off x="10483596" y="3717036"/>
            <a:ext cx="100584" cy="100584"/>
          </a:xfrm>
          <a:prstGeom prst="ellipse">
            <a:avLst/>
          </a:prstGeom>
          <a:solidFill>
            <a:srgbClr val="FFD51E"/>
          </a:solidFill>
          <a:ln w="12700">
            <a:solidFill>
              <a:srgbClr val="FFD51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 txBox="1"/>
          <p:nvPr/>
        </p:nvSpPr>
        <p:spPr>
          <a:xfrm>
            <a:off x="6693408" y="5166360"/>
            <a:ext cx="219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737D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</a:t>
            </a:r>
            <a:endParaRPr lang="en-US" sz="800" dirty="0"/>
          </a:p>
        </p:txBody>
      </p:sp>
      <p:sp>
        <p:nvSpPr>
          <p:cNvPr id="34" name="Text 31"/>
          <p:cNvSpPr txBox="1"/>
          <p:nvPr/>
        </p:nvSpPr>
        <p:spPr>
          <a:xfrm>
            <a:off x="7315200" y="5166360"/>
            <a:ext cx="219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737D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</a:t>
            </a:r>
            <a:endParaRPr lang="en-US" sz="800" dirty="0"/>
          </a:p>
        </p:txBody>
      </p:sp>
      <p:sp>
        <p:nvSpPr>
          <p:cNvPr id="35" name="Text 32"/>
          <p:cNvSpPr txBox="1"/>
          <p:nvPr/>
        </p:nvSpPr>
        <p:spPr>
          <a:xfrm>
            <a:off x="7936992" y="5166360"/>
            <a:ext cx="219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737D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</a:t>
            </a:r>
            <a:endParaRPr lang="en-US" sz="800" dirty="0"/>
          </a:p>
        </p:txBody>
      </p:sp>
      <p:sp>
        <p:nvSpPr>
          <p:cNvPr id="36" name="Text 33"/>
          <p:cNvSpPr txBox="1"/>
          <p:nvPr/>
        </p:nvSpPr>
        <p:spPr>
          <a:xfrm>
            <a:off x="8558784" y="5166360"/>
            <a:ext cx="219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737D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</a:t>
            </a:r>
            <a:endParaRPr lang="en-US" sz="800" dirty="0"/>
          </a:p>
        </p:txBody>
      </p:sp>
      <p:sp>
        <p:nvSpPr>
          <p:cNvPr id="37" name="Text 34"/>
          <p:cNvSpPr txBox="1"/>
          <p:nvPr/>
        </p:nvSpPr>
        <p:spPr>
          <a:xfrm>
            <a:off x="9180576" y="5166360"/>
            <a:ext cx="219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737D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</a:t>
            </a:r>
            <a:endParaRPr lang="en-US" sz="800" dirty="0"/>
          </a:p>
        </p:txBody>
      </p:sp>
      <p:sp>
        <p:nvSpPr>
          <p:cNvPr id="38" name="Text 35"/>
          <p:cNvSpPr txBox="1"/>
          <p:nvPr/>
        </p:nvSpPr>
        <p:spPr>
          <a:xfrm>
            <a:off x="9802368" y="5166360"/>
            <a:ext cx="219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737D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</a:t>
            </a:r>
            <a:endParaRPr lang="en-US" sz="800" dirty="0"/>
          </a:p>
        </p:txBody>
      </p:sp>
      <p:sp>
        <p:nvSpPr>
          <p:cNvPr id="39" name="Text 36"/>
          <p:cNvSpPr txBox="1"/>
          <p:nvPr/>
        </p:nvSpPr>
        <p:spPr>
          <a:xfrm>
            <a:off x="10424160" y="5166360"/>
            <a:ext cx="219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737D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</a:t>
            </a:r>
            <a:endParaRPr lang="en-US" sz="800" dirty="0"/>
          </a:p>
        </p:txBody>
      </p:sp>
      <p:sp>
        <p:nvSpPr>
          <p:cNvPr id="40" name="Text 37"/>
          <p:cNvSpPr txBox="1"/>
          <p:nvPr/>
        </p:nvSpPr>
        <p:spPr>
          <a:xfrm>
            <a:off x="6885431" y="3038348"/>
            <a:ext cx="8961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20" b="1" dirty="0">
                <a:solidFill>
                  <a:srgbClr val="59D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SLEEP</a:t>
            </a:r>
            <a:endParaRPr lang="en-US" sz="820" dirty="0"/>
          </a:p>
        </p:txBody>
      </p:sp>
      <p:sp>
        <p:nvSpPr>
          <p:cNvPr id="41" name="Text 38"/>
          <p:cNvSpPr txBox="1"/>
          <p:nvPr/>
        </p:nvSpPr>
        <p:spPr>
          <a:xfrm>
            <a:off x="7475220" y="3028950"/>
            <a:ext cx="14447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10" dirty="0">
                <a:solidFill>
                  <a:srgbClr val="AAB2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correlate rest with mood</a:t>
            </a:r>
            <a:endParaRPr lang="en-US" sz="910" dirty="0"/>
          </a:p>
        </p:txBody>
      </p:sp>
      <p:sp>
        <p:nvSpPr>
          <p:cNvPr id="42" name="Text 39"/>
          <p:cNvSpPr txBox="1"/>
          <p:nvPr/>
        </p:nvSpPr>
        <p:spPr>
          <a:xfrm>
            <a:off x="6886447" y="3286760"/>
            <a:ext cx="8961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20" b="1" dirty="0">
                <a:solidFill>
                  <a:srgbClr val="57E3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ACTIVITY</a:t>
            </a:r>
            <a:endParaRPr lang="en-US" sz="820" dirty="0"/>
          </a:p>
        </p:txBody>
      </p:sp>
      <p:sp>
        <p:nvSpPr>
          <p:cNvPr id="43" name="Text 40"/>
          <p:cNvSpPr txBox="1"/>
          <p:nvPr/>
        </p:nvSpPr>
        <p:spPr>
          <a:xfrm>
            <a:off x="7475220" y="3273552"/>
            <a:ext cx="14447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10" dirty="0">
                <a:solidFill>
                  <a:srgbClr val="AAB2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notice movement patterns</a:t>
            </a:r>
            <a:endParaRPr lang="en-US" sz="910" dirty="0"/>
          </a:p>
        </p:txBody>
      </p:sp>
      <p:sp>
        <p:nvSpPr>
          <p:cNvPr id="44" name="Text 41"/>
          <p:cNvSpPr txBox="1"/>
          <p:nvPr/>
        </p:nvSpPr>
        <p:spPr>
          <a:xfrm>
            <a:off x="8965692" y="3035808"/>
            <a:ext cx="8961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20" b="1" dirty="0">
                <a:solidFill>
                  <a:srgbClr val="FF4E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JOURNAL</a:t>
            </a:r>
            <a:endParaRPr lang="en-US" sz="820" dirty="0"/>
          </a:p>
        </p:txBody>
      </p:sp>
      <p:sp>
        <p:nvSpPr>
          <p:cNvPr id="45" name="Text 42"/>
          <p:cNvSpPr txBox="1"/>
          <p:nvPr/>
        </p:nvSpPr>
        <p:spPr>
          <a:xfrm>
            <a:off x="9662922" y="3026665"/>
            <a:ext cx="14447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10" dirty="0">
                <a:solidFill>
                  <a:srgbClr val="AAB2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context to a feeling</a:t>
            </a:r>
            <a:endParaRPr lang="en-US" sz="910" dirty="0"/>
          </a:p>
        </p:txBody>
      </p:sp>
      <p:sp>
        <p:nvSpPr>
          <p:cNvPr id="46" name="Text 43"/>
          <p:cNvSpPr txBox="1"/>
          <p:nvPr/>
        </p:nvSpPr>
        <p:spPr>
          <a:xfrm>
            <a:off x="8951976" y="3297428"/>
            <a:ext cx="8961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20" b="1" dirty="0">
                <a:solidFill>
                  <a:srgbClr val="FFD5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THERAPY</a:t>
            </a:r>
            <a:endParaRPr lang="en-US" sz="820" dirty="0"/>
          </a:p>
        </p:txBody>
      </p:sp>
      <p:sp>
        <p:nvSpPr>
          <p:cNvPr id="47" name="Text 44"/>
          <p:cNvSpPr txBox="1"/>
          <p:nvPr/>
        </p:nvSpPr>
        <p:spPr>
          <a:xfrm>
            <a:off x="9662922" y="3250184"/>
            <a:ext cx="14447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10" dirty="0">
                <a:solidFill>
                  <a:srgbClr val="AAB2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remember continuity</a:t>
            </a:r>
            <a:endParaRPr lang="en-US" sz="910" dirty="0"/>
          </a:p>
        </p:txBody>
      </p:sp>
      <p:sp>
        <p:nvSpPr>
          <p:cNvPr id="48" name="Text 45"/>
          <p:cNvSpPr txBox="1"/>
          <p:nvPr/>
        </p:nvSpPr>
        <p:spPr>
          <a:xfrm>
            <a:off x="6620256" y="5504688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120" dirty="0">
                <a:solidFill>
                  <a:srgbClr val="57E3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PATTERN &gt; SNAPSHOT</a:t>
            </a:r>
            <a:endParaRPr lang="en-US" sz="900" dirty="0"/>
          </a:p>
        </p:txBody>
      </p:sp>
      <p:sp>
        <p:nvSpPr>
          <p:cNvPr id="51" name="Text 48"/>
          <p:cNvSpPr txBox="1"/>
          <p:nvPr/>
        </p:nvSpPr>
        <p:spPr>
          <a:xfrm>
            <a:off x="11192256" y="6446520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737D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</a:t>
            </a:r>
            <a:endParaRPr lang="en-US" sz="850" dirty="0"/>
          </a:p>
        </p:txBody>
      </p:sp>
    </p:spTree>
  </p:cSld>
  <p:clrMapOvr>
    <a:masterClrMapping/>
  </p:clrMapOvr>
  <p:transition>
    <p:push dir="r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-914400"/>
            <a:ext cx="4206240" cy="4206240"/>
          </a:xfrm>
          <a:prstGeom prst="ellipse">
            <a:avLst/>
          </a:prstGeom>
          <a:solidFill>
            <a:srgbClr val="59D9FF">
              <a:alpha val="5000"/>
            </a:srgbClr>
          </a:solidFill>
          <a:ln w="12700">
            <a:solidFill>
              <a:srgbClr val="59D9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914400" y="4389120"/>
            <a:ext cx="3657600" cy="3657600"/>
          </a:xfrm>
          <a:prstGeom prst="ellipse">
            <a:avLst/>
          </a:prstGeom>
          <a:solidFill>
            <a:srgbClr val="FF4E98">
              <a:alpha val="5000"/>
            </a:srgbClr>
          </a:solidFill>
          <a:ln w="12700">
            <a:solidFill>
              <a:srgbClr val="FF4E9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658368" y="38404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b="1" kern="0" spc="170" dirty="0">
                <a:solidFill>
                  <a:srgbClr val="FFD5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 / IMPLEMENTATION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713232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F7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accessibility ideas actually exist in the code.</a:t>
            </a:r>
            <a:endParaRPr lang="en-US" sz="290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1426464"/>
            <a:ext cx="10058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20" dirty="0">
                <a:solidFill>
                  <a:srgbClr val="AAB2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design rationale is visible in the implementation: focus states, read-aloud, motion preferences, and responsive behaviour.</a:t>
            </a:r>
            <a:endParaRPr lang="en-US" sz="1520" dirty="0"/>
          </a:p>
        </p:txBody>
      </p:sp>
      <p:sp>
        <p:nvSpPr>
          <p:cNvPr id="7" name="Shape 5"/>
          <p:cNvSpPr/>
          <p:nvPr/>
        </p:nvSpPr>
        <p:spPr>
          <a:xfrm>
            <a:off x="749808" y="2423160"/>
            <a:ext cx="10442448" cy="566928"/>
          </a:xfrm>
          <a:prstGeom prst="roundRect">
            <a:avLst>
              <a:gd name="adj" fmla="val 19355"/>
            </a:avLst>
          </a:prstGeom>
          <a:solidFill>
            <a:srgbClr val="101522"/>
          </a:solidFill>
          <a:ln w="8890">
            <a:solidFill>
              <a:srgbClr val="59D9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1106424" y="2624328"/>
            <a:ext cx="1444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59D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Focus-visible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2734056" y="260604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F7F8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:focus-visible { outline:none; box-shadow: … }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8613648" y="2639568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r">
              <a:buNone/>
            </a:pPr>
            <a:r>
              <a:rPr lang="en-US" sz="1200" dirty="0">
                <a:solidFill>
                  <a:srgbClr val="AAB2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Keyboard clarity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49808" y="3136392"/>
            <a:ext cx="10442448" cy="566928"/>
          </a:xfrm>
          <a:prstGeom prst="roundRect">
            <a:avLst>
              <a:gd name="adj" fmla="val 19355"/>
            </a:avLst>
          </a:prstGeom>
          <a:solidFill>
            <a:srgbClr val="101522"/>
          </a:solidFill>
          <a:ln w="8890">
            <a:solidFill>
              <a:srgbClr val="FFD51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1106424" y="3337560"/>
            <a:ext cx="1444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D5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 Aloud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2734056" y="3319272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F7F8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 SpeechSynthesisUtterance(textToRead)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8613648" y="3352800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buNone/>
            </a:pPr>
            <a:r>
              <a:rPr lang="en-US" sz="1200" dirty="0">
                <a:solidFill>
                  <a:srgbClr val="AAB2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Text → audio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49808" y="3849624"/>
            <a:ext cx="10442448" cy="566928"/>
          </a:xfrm>
          <a:prstGeom prst="roundRect">
            <a:avLst>
              <a:gd name="adj" fmla="val 19355"/>
            </a:avLst>
          </a:prstGeom>
          <a:solidFill>
            <a:srgbClr val="101522"/>
          </a:solidFill>
          <a:ln w="8890">
            <a:solidFill>
              <a:srgbClr val="FF4E98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1106424" y="4050792"/>
            <a:ext cx="1444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4E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Reduced Motion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2734056" y="4032504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F7F8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@media (prefers-reduced-motion: reduce)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8613648" y="4066032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buNone/>
            </a:pPr>
            <a:r>
              <a:rPr lang="en-US" sz="1200" dirty="0">
                <a:solidFill>
                  <a:srgbClr val="AAB2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User-controlled motion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49808" y="4562856"/>
            <a:ext cx="10442448" cy="566928"/>
          </a:xfrm>
          <a:prstGeom prst="roundRect">
            <a:avLst>
              <a:gd name="adj" fmla="val 19355"/>
            </a:avLst>
          </a:prstGeom>
          <a:solidFill>
            <a:srgbClr val="101522"/>
          </a:solidFill>
          <a:ln w="8890">
            <a:solidFill>
              <a:srgbClr val="57E3B1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1106424" y="4764024"/>
            <a:ext cx="1444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57E3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Sticky navigation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2734056" y="4745736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F7F8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position: sticky; top: 0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8613648" y="4779264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buNone/>
            </a:pPr>
            <a:r>
              <a:rPr lang="en-US" sz="1200" dirty="0">
                <a:solidFill>
                  <a:srgbClr val="AAB2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Orientation / wayfinding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749808" y="5541264"/>
            <a:ext cx="2487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125" dirty="0">
                <a:solidFill>
                  <a:srgbClr val="FFD5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TECHNICAL DESIGN PRINCIPLE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3054096" y="5504688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20" b="1" dirty="0">
                <a:solidFill>
                  <a:srgbClr val="F7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Build the “kind” path into the default path: don’t bolt accessibility on at the end.</a:t>
            </a:r>
            <a:endParaRPr lang="en-US" sz="1620" dirty="0"/>
          </a:p>
        </p:txBody>
      </p:sp>
      <p:sp>
        <p:nvSpPr>
          <p:cNvPr id="25" name="Shape 23"/>
          <p:cNvSpPr/>
          <p:nvPr/>
        </p:nvSpPr>
        <p:spPr>
          <a:xfrm>
            <a:off x="658368" y="6382512"/>
            <a:ext cx="10881360" cy="0"/>
          </a:xfrm>
          <a:prstGeom prst="line">
            <a:avLst/>
          </a:prstGeom>
          <a:noFill/>
          <a:ln w="8890">
            <a:solidFill>
              <a:srgbClr val="2A3346">
                <a:alpha val="7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 txBox="1"/>
          <p:nvPr/>
        </p:nvSpPr>
        <p:spPr>
          <a:xfrm>
            <a:off x="658368" y="6446520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737D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submitted website source code; W3C / MDN accessibility guidance.</a:t>
            </a:r>
            <a:endParaRPr lang="en-US" sz="750" dirty="0"/>
          </a:p>
        </p:txBody>
      </p:sp>
      <p:sp>
        <p:nvSpPr>
          <p:cNvPr id="27" name="Text 25"/>
          <p:cNvSpPr txBox="1"/>
          <p:nvPr/>
        </p:nvSpPr>
        <p:spPr>
          <a:xfrm>
            <a:off x="11192256" y="6446520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737D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914400"/>
            <a:ext cx="4023360" cy="4023360"/>
          </a:xfrm>
          <a:prstGeom prst="ellipse">
            <a:avLst/>
          </a:prstGeom>
          <a:solidFill>
            <a:srgbClr val="9B78FF">
              <a:alpha val="5000"/>
            </a:srgbClr>
          </a:solidFill>
          <a:ln w="12700">
            <a:solidFill>
              <a:srgbClr val="9B78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914400" y="4114800"/>
            <a:ext cx="3566160" cy="3566160"/>
          </a:xfrm>
          <a:prstGeom prst="ellipse">
            <a:avLst/>
          </a:prstGeom>
          <a:solidFill>
            <a:srgbClr val="57E3B1">
              <a:alpha val="5000"/>
            </a:srgbClr>
          </a:solidFill>
          <a:ln w="12700">
            <a:solidFill>
              <a:srgbClr val="57E3B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658368" y="38404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b="1" kern="0" spc="170" dirty="0">
                <a:solidFill>
                  <a:srgbClr val="FFD5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 / DESIGN SYSTEM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713232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F7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Everything has a job.</a:t>
            </a:r>
            <a:endParaRPr lang="en-US" sz="290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1426464"/>
            <a:ext cx="10058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20" dirty="0">
                <a:solidFill>
                  <a:srgbClr val="AAB2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small front-end system keeps the site coherent: one visual language, repeated components, and motion that behaves consistently.</a:t>
            </a:r>
            <a:endParaRPr lang="en-US" sz="152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232257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120" dirty="0">
                <a:solidFill>
                  <a:srgbClr val="FFD5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PALETTE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49808" y="2688336"/>
            <a:ext cx="786384" cy="786384"/>
          </a:xfrm>
          <a:prstGeom prst="roundRect">
            <a:avLst>
              <a:gd name="adj" fmla="val 16279"/>
            </a:avLst>
          </a:prstGeom>
          <a:solidFill>
            <a:srgbClr val="FFD51E"/>
          </a:solidFill>
          <a:ln w="8890">
            <a:solidFill>
              <a:srgbClr val="FFD51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752856" y="3022093"/>
            <a:ext cx="7863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b="1" dirty="0">
                <a:latin typeface="Aptos" pitchFamily="34" charset="0"/>
                <a:ea typeface="Aptos" pitchFamily="34" charset="-122"/>
                <a:cs typeface="Aptos" pitchFamily="34" charset="-120"/>
              </a:rPr>
              <a:t>ACTION</a:t>
            </a:r>
            <a:endParaRPr lang="en-US" sz="780" dirty="0"/>
          </a:p>
        </p:txBody>
      </p:sp>
      <p:sp>
        <p:nvSpPr>
          <p:cNvPr id="10" name="Shape 8"/>
          <p:cNvSpPr/>
          <p:nvPr/>
        </p:nvSpPr>
        <p:spPr>
          <a:xfrm>
            <a:off x="1682496" y="2688336"/>
            <a:ext cx="786384" cy="786384"/>
          </a:xfrm>
          <a:prstGeom prst="roundRect">
            <a:avLst>
              <a:gd name="adj" fmla="val 16279"/>
            </a:avLst>
          </a:prstGeom>
          <a:solidFill>
            <a:srgbClr val="59D9FF"/>
          </a:solidFill>
          <a:ln w="8890">
            <a:solidFill>
              <a:srgbClr val="59D9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1685544" y="3022093"/>
            <a:ext cx="7863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b="1" dirty="0">
                <a:latin typeface="Aptos" pitchFamily="34" charset="0"/>
                <a:ea typeface="Aptos" pitchFamily="34" charset="-122"/>
                <a:cs typeface="Aptos" pitchFamily="34" charset="-120"/>
              </a:rPr>
              <a:t>INFO</a:t>
            </a:r>
            <a:endParaRPr lang="en-US" sz="780" dirty="0"/>
          </a:p>
        </p:txBody>
      </p:sp>
      <p:sp>
        <p:nvSpPr>
          <p:cNvPr id="12" name="Shape 10"/>
          <p:cNvSpPr/>
          <p:nvPr/>
        </p:nvSpPr>
        <p:spPr>
          <a:xfrm>
            <a:off x="2615184" y="2688336"/>
            <a:ext cx="786384" cy="786384"/>
          </a:xfrm>
          <a:prstGeom prst="roundRect">
            <a:avLst>
              <a:gd name="adj" fmla="val 16279"/>
            </a:avLst>
          </a:prstGeom>
          <a:solidFill>
            <a:srgbClr val="FF4E98"/>
          </a:solidFill>
          <a:ln w="8890">
            <a:solidFill>
              <a:srgbClr val="FF4E9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2618232" y="3022093"/>
            <a:ext cx="7863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b="1" dirty="0">
                <a:latin typeface="Aptos" pitchFamily="34" charset="0"/>
                <a:ea typeface="Aptos" pitchFamily="34" charset="-122"/>
                <a:cs typeface="Aptos" pitchFamily="34" charset="-120"/>
              </a:rPr>
              <a:t>EMOTION</a:t>
            </a:r>
            <a:endParaRPr lang="en-US" sz="780" dirty="0"/>
          </a:p>
        </p:txBody>
      </p:sp>
      <p:sp>
        <p:nvSpPr>
          <p:cNvPr id="14" name="Shape 12"/>
          <p:cNvSpPr/>
          <p:nvPr/>
        </p:nvSpPr>
        <p:spPr>
          <a:xfrm>
            <a:off x="3547872" y="2688336"/>
            <a:ext cx="786384" cy="786384"/>
          </a:xfrm>
          <a:prstGeom prst="roundRect">
            <a:avLst>
              <a:gd name="adj" fmla="val 16279"/>
            </a:avLst>
          </a:prstGeom>
          <a:solidFill>
            <a:srgbClr val="57E3B1"/>
          </a:solidFill>
          <a:ln w="8890">
            <a:solidFill>
              <a:srgbClr val="57E3B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3550920" y="3022093"/>
            <a:ext cx="7863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b="1" dirty="0">
                <a:latin typeface="Aptos" pitchFamily="34" charset="0"/>
                <a:ea typeface="Aptos" pitchFamily="34" charset="-122"/>
                <a:cs typeface="Aptos" pitchFamily="34" charset="-120"/>
              </a:rPr>
              <a:t>POSITIVE</a:t>
            </a:r>
            <a:endParaRPr lang="en-US" sz="780" dirty="0"/>
          </a:p>
        </p:txBody>
      </p:sp>
      <p:sp>
        <p:nvSpPr>
          <p:cNvPr id="18" name="Text 16"/>
          <p:cNvSpPr txBox="1"/>
          <p:nvPr/>
        </p:nvSpPr>
        <p:spPr>
          <a:xfrm>
            <a:off x="4661408" y="232003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120" dirty="0">
                <a:solidFill>
                  <a:srgbClr val="FFD5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TYPE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4661408" y="2670048"/>
            <a:ext cx="35478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7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healthier mind</a:t>
            </a:r>
            <a:endParaRPr lang="en-US" sz="2400" dirty="0"/>
          </a:p>
        </p:txBody>
      </p:sp>
      <p:sp>
        <p:nvSpPr>
          <p:cNvPr id="20" name="Text 18"/>
          <p:cNvSpPr txBox="1"/>
          <p:nvPr/>
        </p:nvSpPr>
        <p:spPr>
          <a:xfrm>
            <a:off x="4672584" y="3153411"/>
            <a:ext cx="3310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AAB2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clear hierarchy / compact metadata / calm body copy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8226044" y="2328419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120" dirty="0">
                <a:solidFill>
                  <a:srgbClr val="FFD5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MOTION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8209280" y="2661667"/>
            <a:ext cx="3547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F7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Soft  •  predictable  •  optional</a:t>
            </a:r>
            <a:endParaRPr lang="en-US" sz="2200" dirty="0"/>
          </a:p>
        </p:txBody>
      </p:sp>
      <p:sp>
        <p:nvSpPr>
          <p:cNvPr id="23" name="Text 21"/>
          <p:cNvSpPr txBox="1"/>
          <p:nvPr/>
        </p:nvSpPr>
        <p:spPr>
          <a:xfrm>
            <a:off x="7766304" y="3170682"/>
            <a:ext cx="3621024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00" dirty="0">
                <a:solidFill>
                  <a:srgbClr val="AAB2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ambient drift / clear response / reduced-motion path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49808" y="4151376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120" dirty="0">
                <a:solidFill>
                  <a:srgbClr val="FFD5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COMPONENTS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49808" y="4590288"/>
            <a:ext cx="1517904" cy="246888"/>
          </a:xfrm>
          <a:prstGeom prst="roundRect">
            <a:avLst>
              <a:gd name="adj" fmla="val 51852"/>
            </a:avLst>
          </a:prstGeom>
          <a:solidFill>
            <a:srgbClr val="141B29"/>
          </a:solidFill>
          <a:ln w="8890">
            <a:solidFill>
              <a:srgbClr val="2A3346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 txBox="1"/>
          <p:nvPr/>
        </p:nvSpPr>
        <p:spPr>
          <a:xfrm>
            <a:off x="822960" y="460400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kern="0" spc="60" dirty="0">
                <a:solidFill>
                  <a:srgbClr val="F7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BUTTON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2450592" y="4590288"/>
            <a:ext cx="1517904" cy="246888"/>
          </a:xfrm>
          <a:prstGeom prst="roundRect">
            <a:avLst>
              <a:gd name="adj" fmla="val 51852"/>
            </a:avLst>
          </a:prstGeom>
          <a:solidFill>
            <a:srgbClr val="141B29"/>
          </a:solidFill>
          <a:ln w="8890">
            <a:solidFill>
              <a:srgbClr val="2A3346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 txBox="1"/>
          <p:nvPr/>
        </p:nvSpPr>
        <p:spPr>
          <a:xfrm>
            <a:off x="2523744" y="460400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kern="0" spc="60" dirty="0">
                <a:solidFill>
                  <a:srgbClr val="F7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GLASS CARD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151376" y="4590288"/>
            <a:ext cx="1517904" cy="246888"/>
          </a:xfrm>
          <a:prstGeom prst="roundRect">
            <a:avLst>
              <a:gd name="adj" fmla="val 51852"/>
            </a:avLst>
          </a:prstGeom>
          <a:solidFill>
            <a:srgbClr val="141B29"/>
          </a:solidFill>
          <a:ln w="8890">
            <a:solidFill>
              <a:srgbClr val="2A3346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 txBox="1"/>
          <p:nvPr/>
        </p:nvSpPr>
        <p:spPr>
          <a:xfrm>
            <a:off x="4224528" y="460400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kern="0" spc="60" dirty="0">
                <a:solidFill>
                  <a:srgbClr val="F7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STATUS CHIP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5852160" y="4590288"/>
            <a:ext cx="1517904" cy="246888"/>
          </a:xfrm>
          <a:prstGeom prst="roundRect">
            <a:avLst>
              <a:gd name="adj" fmla="val 51852"/>
            </a:avLst>
          </a:prstGeom>
          <a:solidFill>
            <a:srgbClr val="141B29"/>
          </a:solidFill>
          <a:ln w="8890">
            <a:solidFill>
              <a:srgbClr val="2A3346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 txBox="1"/>
          <p:nvPr/>
        </p:nvSpPr>
        <p:spPr>
          <a:xfrm>
            <a:off x="5925312" y="460400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kern="0" spc="60" dirty="0">
                <a:solidFill>
                  <a:srgbClr val="F7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PROGRESS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7552944" y="4590288"/>
            <a:ext cx="1517904" cy="246888"/>
          </a:xfrm>
          <a:prstGeom prst="roundRect">
            <a:avLst>
              <a:gd name="adj" fmla="val 51852"/>
            </a:avLst>
          </a:prstGeom>
          <a:solidFill>
            <a:srgbClr val="141B29"/>
          </a:solidFill>
          <a:ln w="8890">
            <a:solidFill>
              <a:srgbClr val="2A3346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 txBox="1"/>
          <p:nvPr/>
        </p:nvSpPr>
        <p:spPr>
          <a:xfrm>
            <a:off x="7626096" y="460400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kern="0" spc="60" dirty="0">
                <a:solidFill>
                  <a:srgbClr val="F7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NAV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9253728" y="4590288"/>
            <a:ext cx="1517904" cy="246888"/>
          </a:xfrm>
          <a:prstGeom prst="roundRect">
            <a:avLst>
              <a:gd name="adj" fmla="val 51852"/>
            </a:avLst>
          </a:prstGeom>
          <a:solidFill>
            <a:srgbClr val="141B29"/>
          </a:solidFill>
          <a:ln w="8890">
            <a:solidFill>
              <a:srgbClr val="2A3346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 txBox="1"/>
          <p:nvPr/>
        </p:nvSpPr>
        <p:spPr>
          <a:xfrm>
            <a:off x="9326880" y="460400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kern="0" spc="60" dirty="0">
                <a:solidFill>
                  <a:srgbClr val="F7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 ALOUD</a:t>
            </a:r>
            <a:endParaRPr lang="en-US" sz="800" dirty="0"/>
          </a:p>
        </p:txBody>
      </p:sp>
      <p:sp>
        <p:nvSpPr>
          <p:cNvPr id="37" name="Text 35"/>
          <p:cNvSpPr txBox="1"/>
          <p:nvPr/>
        </p:nvSpPr>
        <p:spPr>
          <a:xfrm>
            <a:off x="749808" y="5303520"/>
            <a:ext cx="10378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7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component system makes every page feel like the same product: even when the user moves from feed → booking → growth → history.</a:t>
            </a:r>
            <a:endParaRPr lang="en-US" sz="1700" dirty="0"/>
          </a:p>
        </p:txBody>
      </p:sp>
      <p:sp>
        <p:nvSpPr>
          <p:cNvPr id="38" name="Shape 36"/>
          <p:cNvSpPr/>
          <p:nvPr/>
        </p:nvSpPr>
        <p:spPr>
          <a:xfrm>
            <a:off x="658368" y="6382512"/>
            <a:ext cx="10881360" cy="0"/>
          </a:xfrm>
          <a:prstGeom prst="line">
            <a:avLst/>
          </a:prstGeom>
          <a:noFill/>
          <a:ln w="8890">
            <a:solidFill>
              <a:srgbClr val="2A3346">
                <a:alpha val="7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 txBox="1"/>
          <p:nvPr/>
        </p:nvSpPr>
        <p:spPr>
          <a:xfrm>
            <a:off x="658368" y="6446520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737D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cult.fit mind • product design pitch</a:t>
            </a:r>
            <a:endParaRPr lang="en-US" sz="750" dirty="0"/>
          </a:p>
        </p:txBody>
      </p:sp>
      <p:sp>
        <p:nvSpPr>
          <p:cNvPr id="40" name="Text 38"/>
          <p:cNvSpPr txBox="1"/>
          <p:nvPr/>
        </p:nvSpPr>
        <p:spPr>
          <a:xfrm>
            <a:off x="11192256" y="6446520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737D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</a:t>
            </a:r>
            <a:endParaRPr lang="en-US" sz="850" dirty="0"/>
          </a:p>
        </p:txBody>
      </p:sp>
    </p:spTree>
  </p:cSld>
  <p:clrMapOvr>
    <a:masterClrMapping/>
  </p:clrMapOvr>
  <p:transition>
    <p:wipe dir="u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11512" y="-1706246"/>
            <a:ext cx="4206240" cy="4206240"/>
          </a:xfrm>
          <a:prstGeom prst="ellipse">
            <a:avLst/>
          </a:prstGeom>
          <a:solidFill>
            <a:srgbClr val="FF4E98">
              <a:alpha val="6000"/>
            </a:srgbClr>
          </a:solidFill>
          <a:ln w="12700">
            <a:solidFill>
              <a:srgbClr val="FF4E9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1065276" y="4700016"/>
            <a:ext cx="3657600" cy="3657600"/>
          </a:xfrm>
          <a:prstGeom prst="ellipse">
            <a:avLst/>
          </a:prstGeom>
          <a:solidFill>
            <a:srgbClr val="57E3B1">
              <a:alpha val="5000"/>
            </a:srgbClr>
          </a:solidFill>
          <a:ln w="12700">
            <a:solidFill>
              <a:srgbClr val="57E3B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38404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b="1" kern="0" spc="170" dirty="0">
                <a:solidFill>
                  <a:srgbClr val="FFD5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 / PRODUCT ARCHITECTURE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713232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F7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From check-in to change.</a:t>
            </a:r>
            <a:endParaRPr lang="en-US" sz="290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1426464"/>
            <a:ext cx="10058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20" dirty="0">
                <a:solidFill>
                  <a:srgbClr val="AAB2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entire experience can be understood as one loop: Check In → Explore → Get Support → Track → Reflect → Grow.</a:t>
            </a:r>
            <a:endParaRPr lang="en-US" sz="1520" dirty="0"/>
          </a:p>
        </p:txBody>
      </p:sp>
      <p:sp>
        <p:nvSpPr>
          <p:cNvPr id="7" name="Shape 5"/>
          <p:cNvSpPr/>
          <p:nvPr/>
        </p:nvSpPr>
        <p:spPr>
          <a:xfrm>
            <a:off x="7946136" y="3794760"/>
            <a:ext cx="274320" cy="274320"/>
          </a:xfrm>
          <a:prstGeom prst="ellipse">
            <a:avLst/>
          </a:prstGeom>
          <a:solidFill>
            <a:srgbClr val="59D9FF"/>
          </a:solidFill>
          <a:ln w="12700">
            <a:solidFill>
              <a:srgbClr val="59D9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872984" y="3721608"/>
            <a:ext cx="420624" cy="420624"/>
          </a:xfrm>
          <a:prstGeom prst="ellipse">
            <a:avLst/>
          </a:prstGeom>
          <a:solidFill>
            <a:srgbClr val="59D9FF">
              <a:alpha val="8000"/>
            </a:srgbClr>
          </a:solidFill>
          <a:ln w="12700">
            <a:solidFill>
              <a:srgbClr val="59D9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8138160" y="3887675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70" b="1" kern="0" spc="80" dirty="0">
                <a:solidFill>
                  <a:srgbClr val="59D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 IN</a:t>
            </a:r>
            <a:endParaRPr lang="en-US" sz="870" dirty="0"/>
          </a:p>
        </p:txBody>
      </p:sp>
      <p:sp>
        <p:nvSpPr>
          <p:cNvPr id="10" name="Shape 8"/>
          <p:cNvSpPr/>
          <p:nvPr/>
        </p:nvSpPr>
        <p:spPr>
          <a:xfrm>
            <a:off x="6906375" y="5482719"/>
            <a:ext cx="274320" cy="274320"/>
          </a:xfrm>
          <a:prstGeom prst="ellipse">
            <a:avLst/>
          </a:prstGeom>
          <a:solidFill>
            <a:srgbClr val="FFD51E"/>
          </a:solidFill>
          <a:ln w="12700">
            <a:solidFill>
              <a:srgbClr val="FFD51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6830568" y="5409567"/>
            <a:ext cx="420624" cy="420624"/>
          </a:xfrm>
          <a:prstGeom prst="ellipse">
            <a:avLst/>
          </a:prstGeom>
          <a:solidFill>
            <a:srgbClr val="FFD51E">
              <a:alpha val="8000"/>
            </a:srgbClr>
          </a:solidFill>
          <a:ln w="12700">
            <a:solidFill>
              <a:srgbClr val="FFD51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2" name="Text 10"/>
          <p:cNvSpPr txBox="1"/>
          <p:nvPr/>
        </p:nvSpPr>
        <p:spPr>
          <a:xfrm>
            <a:off x="6611112" y="585762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70" b="1" kern="0" spc="80" dirty="0">
                <a:solidFill>
                  <a:srgbClr val="FFD5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EXPLORE</a:t>
            </a:r>
            <a:endParaRPr lang="en-US" sz="870" dirty="0"/>
          </a:p>
        </p:txBody>
      </p:sp>
      <p:sp>
        <p:nvSpPr>
          <p:cNvPr id="13" name="Shape 11"/>
          <p:cNvSpPr/>
          <p:nvPr/>
        </p:nvSpPr>
        <p:spPr>
          <a:xfrm>
            <a:off x="4984194" y="5446142"/>
            <a:ext cx="274320" cy="274320"/>
          </a:xfrm>
          <a:prstGeom prst="ellipse">
            <a:avLst/>
          </a:prstGeom>
          <a:solidFill>
            <a:srgbClr val="FF4E98"/>
          </a:solidFill>
          <a:ln w="12700">
            <a:solidFill>
              <a:srgbClr val="FF4E9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911042" y="5391278"/>
            <a:ext cx="420624" cy="420624"/>
          </a:xfrm>
          <a:prstGeom prst="ellipse">
            <a:avLst/>
          </a:prstGeom>
          <a:solidFill>
            <a:srgbClr val="FF4E98">
              <a:alpha val="8000"/>
            </a:srgbClr>
          </a:solidFill>
          <a:ln w="12700">
            <a:solidFill>
              <a:srgbClr val="FF4E9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4672584" y="585762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70" b="1" kern="0" spc="80" dirty="0">
                <a:solidFill>
                  <a:srgbClr val="FF4E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</a:t>
            </a:r>
            <a:endParaRPr lang="en-US" sz="870" dirty="0"/>
          </a:p>
        </p:txBody>
      </p:sp>
      <p:sp>
        <p:nvSpPr>
          <p:cNvPr id="16" name="Shape 14"/>
          <p:cNvSpPr/>
          <p:nvPr/>
        </p:nvSpPr>
        <p:spPr>
          <a:xfrm>
            <a:off x="4069080" y="3794760"/>
            <a:ext cx="274320" cy="274320"/>
          </a:xfrm>
          <a:prstGeom prst="ellipse">
            <a:avLst/>
          </a:prstGeom>
          <a:solidFill>
            <a:srgbClr val="57E3B1"/>
          </a:solidFill>
          <a:ln w="12700">
            <a:solidFill>
              <a:srgbClr val="57E3B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995928" y="3721608"/>
            <a:ext cx="420624" cy="420624"/>
          </a:xfrm>
          <a:prstGeom prst="ellipse">
            <a:avLst/>
          </a:prstGeom>
          <a:solidFill>
            <a:srgbClr val="57E3B1">
              <a:alpha val="8000"/>
            </a:srgbClr>
          </a:solidFill>
          <a:ln w="12700">
            <a:solidFill>
              <a:srgbClr val="57E3B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3526045" y="418154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70" b="1" kern="0" spc="80" dirty="0">
                <a:solidFill>
                  <a:srgbClr val="57E3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TRACK</a:t>
            </a:r>
            <a:endParaRPr lang="en-US" sz="870" dirty="0"/>
          </a:p>
        </p:txBody>
      </p:sp>
      <p:sp>
        <p:nvSpPr>
          <p:cNvPr id="19" name="Shape 17"/>
          <p:cNvSpPr/>
          <p:nvPr/>
        </p:nvSpPr>
        <p:spPr>
          <a:xfrm>
            <a:off x="5038344" y="2115946"/>
            <a:ext cx="274320" cy="274320"/>
          </a:xfrm>
          <a:prstGeom prst="ellipse">
            <a:avLst/>
          </a:prstGeom>
          <a:solidFill>
            <a:srgbClr val="9B78FF"/>
          </a:solidFill>
          <a:ln w="12700">
            <a:solidFill>
              <a:srgbClr val="9B78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965192" y="2042794"/>
            <a:ext cx="420624" cy="420624"/>
          </a:xfrm>
          <a:prstGeom prst="ellipse">
            <a:avLst/>
          </a:prstGeom>
          <a:solidFill>
            <a:srgbClr val="9B78FF">
              <a:alpha val="8000"/>
            </a:srgbClr>
          </a:solidFill>
          <a:ln w="12700">
            <a:solidFill>
              <a:srgbClr val="9B78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4818887" y="2429573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70" b="1" kern="0" spc="80" dirty="0">
                <a:solidFill>
                  <a:srgbClr val="9B7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REFLECT</a:t>
            </a:r>
            <a:endParaRPr lang="en-US" sz="870" dirty="0"/>
          </a:p>
        </p:txBody>
      </p:sp>
      <p:sp>
        <p:nvSpPr>
          <p:cNvPr id="22" name="Shape 20"/>
          <p:cNvSpPr/>
          <p:nvPr/>
        </p:nvSpPr>
        <p:spPr>
          <a:xfrm>
            <a:off x="6976872" y="2115946"/>
            <a:ext cx="274320" cy="274320"/>
          </a:xfrm>
          <a:prstGeom prst="ellipse">
            <a:avLst/>
          </a:prstGeom>
          <a:solidFill>
            <a:srgbClr val="FFD51E"/>
          </a:solidFill>
          <a:ln w="12700">
            <a:solidFill>
              <a:srgbClr val="FFD51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903720" y="2042794"/>
            <a:ext cx="420624" cy="420624"/>
          </a:xfrm>
          <a:prstGeom prst="ellipse">
            <a:avLst/>
          </a:prstGeom>
          <a:solidFill>
            <a:srgbClr val="FFD51E">
              <a:alpha val="8000"/>
            </a:srgbClr>
          </a:solidFill>
          <a:ln w="12700">
            <a:solidFill>
              <a:srgbClr val="FFD51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6437375" y="246341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70" b="1" kern="0" spc="80" dirty="0">
                <a:solidFill>
                  <a:srgbClr val="FFD5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GROW</a:t>
            </a:r>
            <a:endParaRPr lang="en-US" sz="870" dirty="0"/>
          </a:p>
        </p:txBody>
      </p:sp>
      <p:sp>
        <p:nvSpPr>
          <p:cNvPr id="25" name="Shape 23"/>
          <p:cNvSpPr/>
          <p:nvPr/>
        </p:nvSpPr>
        <p:spPr>
          <a:xfrm flipH="1">
            <a:off x="7180695" y="4069080"/>
            <a:ext cx="856880" cy="1431926"/>
          </a:xfrm>
          <a:prstGeom prst="line">
            <a:avLst/>
          </a:prstGeom>
          <a:noFill/>
          <a:ln w="16510">
            <a:solidFill>
              <a:srgbClr val="F7F8FA">
                <a:alpha val="45000"/>
              </a:srgbClr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 flipV="1">
            <a:off x="4224527" y="2298826"/>
            <a:ext cx="813816" cy="1514221"/>
          </a:xfrm>
          <a:prstGeom prst="line">
            <a:avLst/>
          </a:prstGeom>
          <a:noFill/>
          <a:ln w="16510">
            <a:solidFill>
              <a:srgbClr val="F7F8FA">
                <a:alpha val="45000"/>
              </a:srgbClr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5312664" y="2253106"/>
            <a:ext cx="1664208" cy="0"/>
          </a:xfrm>
          <a:prstGeom prst="line">
            <a:avLst/>
          </a:prstGeom>
          <a:noFill/>
          <a:ln w="16510">
            <a:solidFill>
              <a:srgbClr val="F7F8FA">
                <a:alpha val="45000"/>
              </a:srgbClr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7223758" y="2362834"/>
            <a:ext cx="813817" cy="1450213"/>
          </a:xfrm>
          <a:prstGeom prst="line">
            <a:avLst/>
          </a:prstGeom>
          <a:noFill/>
          <a:ln w="16510">
            <a:solidFill>
              <a:srgbClr val="F7F8FA">
                <a:alpha val="45000"/>
              </a:srgbClr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709159" y="3383279"/>
            <a:ext cx="2907791" cy="1221609"/>
          </a:xfrm>
          <a:prstGeom prst="roundRect">
            <a:avLst>
              <a:gd name="adj" fmla="val 14754"/>
            </a:avLst>
          </a:prstGeom>
          <a:solidFill>
            <a:srgbClr val="101522"/>
          </a:solidFill>
          <a:ln w="8890">
            <a:solidFill>
              <a:srgbClr val="2A3346">
                <a:alpha val="8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 txBox="1"/>
          <p:nvPr/>
        </p:nvSpPr>
        <p:spPr>
          <a:xfrm>
            <a:off x="4956048" y="3611880"/>
            <a:ext cx="23957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kern="0" spc="115" dirty="0">
                <a:solidFill>
                  <a:srgbClr val="FFD5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PRODUCT IS THE LOOP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4882896" y="3886200"/>
            <a:ext cx="2542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F7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not just the booking page. not just the mood check.</a:t>
            </a:r>
            <a:endParaRPr lang="en-US" sz="1320" dirty="0"/>
          </a:p>
        </p:txBody>
      </p:sp>
      <p:sp>
        <p:nvSpPr>
          <p:cNvPr id="34" name="Text 32"/>
          <p:cNvSpPr txBox="1"/>
          <p:nvPr/>
        </p:nvSpPr>
        <p:spPr>
          <a:xfrm>
            <a:off x="4864608" y="4325112"/>
            <a:ext cx="2578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40" dirty="0">
                <a:solidFill>
                  <a:srgbClr val="AAB2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step creates context for the next one.</a:t>
            </a:r>
            <a:endParaRPr lang="en-US" sz="1040" dirty="0"/>
          </a:p>
        </p:txBody>
      </p:sp>
      <p:sp>
        <p:nvSpPr>
          <p:cNvPr id="35" name="Text 33"/>
          <p:cNvSpPr txBox="1"/>
          <p:nvPr/>
        </p:nvSpPr>
        <p:spPr>
          <a:xfrm>
            <a:off x="749808" y="2816352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120" dirty="0">
                <a:solidFill>
                  <a:srgbClr val="59D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ACTION AT A TIME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749808" y="3182112"/>
            <a:ext cx="2971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7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Each interaction is small.</a:t>
            </a:r>
            <a:endParaRPr lang="en-US" sz="1800" dirty="0"/>
          </a:p>
          <a:p>
            <a:pPr marL="0" indent="0" algn="l">
              <a:buNone/>
            </a:pPr>
            <a:r>
              <a:rPr lang="en-US" sz="1800" b="1" dirty="0">
                <a:solidFill>
                  <a:srgbClr val="F7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loop is what makes it meaningful.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749808" y="4242816"/>
            <a:ext cx="2395728" cy="246888"/>
          </a:xfrm>
          <a:prstGeom prst="roundRect">
            <a:avLst>
              <a:gd name="adj" fmla="val 51852"/>
            </a:avLst>
          </a:prstGeom>
          <a:solidFill>
            <a:srgbClr val="141B29"/>
          </a:solidFill>
          <a:ln w="8890">
            <a:solidFill>
              <a:srgbClr val="2A3346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 txBox="1"/>
          <p:nvPr/>
        </p:nvSpPr>
        <p:spPr>
          <a:xfrm>
            <a:off x="822960" y="4256532"/>
            <a:ext cx="22494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kern="0" spc="60" dirty="0">
                <a:solidFill>
                  <a:srgbClr val="57E3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CONTINUITY &gt; COMPLEXITY</a:t>
            </a:r>
            <a:endParaRPr lang="en-US" sz="850" dirty="0"/>
          </a:p>
        </p:txBody>
      </p:sp>
      <p:sp>
        <p:nvSpPr>
          <p:cNvPr id="39" name="Text 37"/>
          <p:cNvSpPr txBox="1"/>
          <p:nvPr/>
        </p:nvSpPr>
        <p:spPr>
          <a:xfrm>
            <a:off x="11192256" y="6446520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737D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</a:t>
            </a:r>
            <a:endParaRPr lang="en-US" sz="850" dirty="0"/>
          </a:p>
        </p:txBody>
      </p:sp>
      <p:sp>
        <p:nvSpPr>
          <p:cNvPr id="43" name="Shape 23">
            <a:extLst>
              <a:ext uri="{FF2B5EF4-FFF2-40B4-BE49-F238E27FC236}">
                <a16:creationId xmlns:a16="http://schemas.microsoft.com/office/drawing/2014/main" id="{10F833E5-BD4B-58B3-22D2-85A8035C48CD}"/>
              </a:ext>
            </a:extLst>
          </p:cNvPr>
          <p:cNvSpPr/>
          <p:nvPr/>
        </p:nvSpPr>
        <p:spPr>
          <a:xfrm flipH="1" flipV="1">
            <a:off x="5258514" y="5601589"/>
            <a:ext cx="1645206" cy="27431"/>
          </a:xfrm>
          <a:prstGeom prst="line">
            <a:avLst/>
          </a:prstGeom>
          <a:noFill/>
          <a:ln w="16510">
            <a:solidFill>
              <a:srgbClr val="F7F8FA">
                <a:alpha val="45000"/>
              </a:srgbClr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23">
            <a:extLst>
              <a:ext uri="{FF2B5EF4-FFF2-40B4-BE49-F238E27FC236}">
                <a16:creationId xmlns:a16="http://schemas.microsoft.com/office/drawing/2014/main" id="{7CE35A03-17F2-B53F-2037-07BAB8EC8B71}"/>
              </a:ext>
            </a:extLst>
          </p:cNvPr>
          <p:cNvSpPr/>
          <p:nvPr/>
        </p:nvSpPr>
        <p:spPr>
          <a:xfrm flipH="1" flipV="1">
            <a:off x="4270247" y="4069078"/>
            <a:ext cx="768095" cy="1431925"/>
          </a:xfrm>
          <a:prstGeom prst="line">
            <a:avLst/>
          </a:prstGeom>
          <a:noFill/>
          <a:ln w="16510">
            <a:solidFill>
              <a:srgbClr val="F7F8FA">
                <a:alpha val="45000"/>
              </a:srgbClr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motion_assets/ambient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rgbClr val="070A14">
              <a:alpha val="90000"/>
            </a:srgbClr>
          </a:solidFill>
          <a:ln w="12700">
            <a:solidFill>
              <a:srgbClr val="070A1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9144000" y="-914400"/>
            <a:ext cx="4389120" cy="4389120"/>
          </a:xfrm>
          <a:prstGeom prst="ellipse">
            <a:avLst/>
          </a:prstGeom>
          <a:solidFill>
            <a:srgbClr val="FF4E98">
              <a:alpha val="8000"/>
            </a:srgbClr>
          </a:solidFill>
          <a:ln w="12700">
            <a:solidFill>
              <a:srgbClr val="FF4E9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-731520" y="4572000"/>
            <a:ext cx="3383280" cy="3383280"/>
          </a:xfrm>
          <a:prstGeom prst="ellipse">
            <a:avLst/>
          </a:prstGeom>
          <a:solidFill>
            <a:srgbClr val="59D9FF">
              <a:alpha val="8000"/>
            </a:srgbClr>
          </a:solidFill>
          <a:ln w="12700">
            <a:solidFill>
              <a:srgbClr val="59D9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 txBox="1"/>
          <p:nvPr/>
        </p:nvSpPr>
        <p:spPr>
          <a:xfrm>
            <a:off x="731520" y="530352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30" b="1" kern="0" spc="160" dirty="0">
                <a:solidFill>
                  <a:srgbClr val="FFD5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 / PROOF</a:t>
            </a:r>
            <a:endParaRPr lang="en-US" sz="93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987552"/>
            <a:ext cx="5120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7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Let’s stop talking.</a:t>
            </a:r>
            <a:endParaRPr lang="en-US" sz="3400" dirty="0"/>
          </a:p>
          <a:p>
            <a:pPr marL="0" indent="0" algn="l">
              <a:buNone/>
            </a:pPr>
            <a:r>
              <a:rPr lang="en-US" sz="3400" b="1" dirty="0">
                <a:solidFill>
                  <a:srgbClr val="F7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Experience it.</a:t>
            </a:r>
            <a:endParaRPr lang="en-US" sz="34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450592"/>
            <a:ext cx="50109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60" dirty="0">
                <a:solidFill>
                  <a:srgbClr val="AAB2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screenshots. Show the interaction. Explain the reasoning while navigating.</a:t>
            </a:r>
            <a:endParaRPr lang="en-US" sz="1560" dirty="0"/>
          </a:p>
        </p:txBody>
      </p:sp>
      <p:sp>
        <p:nvSpPr>
          <p:cNvPr id="9" name="Shape 6"/>
          <p:cNvSpPr/>
          <p:nvPr/>
        </p:nvSpPr>
        <p:spPr>
          <a:xfrm>
            <a:off x="731520" y="3456432"/>
            <a:ext cx="896112" cy="246888"/>
          </a:xfrm>
          <a:prstGeom prst="roundRect">
            <a:avLst>
              <a:gd name="adj" fmla="val 51852"/>
            </a:avLst>
          </a:prstGeom>
          <a:solidFill>
            <a:srgbClr val="FFD51E"/>
          </a:solidFill>
          <a:ln w="8890">
            <a:solidFill>
              <a:srgbClr val="2A3346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 txBox="1"/>
          <p:nvPr/>
        </p:nvSpPr>
        <p:spPr>
          <a:xfrm>
            <a:off x="804672" y="3470148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kern="0" spc="6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HOME</a:t>
            </a:r>
            <a:endParaRPr lang="en-US" sz="820" dirty="0"/>
          </a:p>
        </p:txBody>
      </p:sp>
      <p:sp>
        <p:nvSpPr>
          <p:cNvPr id="11" name="Shape 8"/>
          <p:cNvSpPr/>
          <p:nvPr/>
        </p:nvSpPr>
        <p:spPr>
          <a:xfrm>
            <a:off x="1719072" y="3456432"/>
            <a:ext cx="896112" cy="246888"/>
          </a:xfrm>
          <a:prstGeom prst="roundRect">
            <a:avLst>
              <a:gd name="adj" fmla="val 51852"/>
            </a:avLst>
          </a:prstGeom>
          <a:solidFill>
            <a:srgbClr val="141B29"/>
          </a:solidFill>
          <a:ln w="8890">
            <a:solidFill>
              <a:srgbClr val="2A3346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 txBox="1"/>
          <p:nvPr/>
        </p:nvSpPr>
        <p:spPr>
          <a:xfrm>
            <a:off x="1792224" y="3470148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kern="0" spc="60" dirty="0">
                <a:solidFill>
                  <a:srgbClr val="AAB2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ONBOARD</a:t>
            </a:r>
            <a:endParaRPr lang="en-US" sz="820" dirty="0"/>
          </a:p>
        </p:txBody>
      </p:sp>
      <p:sp>
        <p:nvSpPr>
          <p:cNvPr id="13" name="Shape 10"/>
          <p:cNvSpPr/>
          <p:nvPr/>
        </p:nvSpPr>
        <p:spPr>
          <a:xfrm>
            <a:off x="2706624" y="3456432"/>
            <a:ext cx="896112" cy="246888"/>
          </a:xfrm>
          <a:prstGeom prst="roundRect">
            <a:avLst>
              <a:gd name="adj" fmla="val 51852"/>
            </a:avLst>
          </a:prstGeom>
          <a:solidFill>
            <a:srgbClr val="141B29"/>
          </a:solidFill>
          <a:ln w="8890">
            <a:solidFill>
              <a:srgbClr val="2A3346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 txBox="1"/>
          <p:nvPr/>
        </p:nvSpPr>
        <p:spPr>
          <a:xfrm>
            <a:off x="2779776" y="3470148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kern="0" spc="60" dirty="0">
                <a:solidFill>
                  <a:srgbClr val="AAB2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FEED</a:t>
            </a:r>
            <a:endParaRPr lang="en-US" sz="820" dirty="0"/>
          </a:p>
        </p:txBody>
      </p:sp>
      <p:sp>
        <p:nvSpPr>
          <p:cNvPr id="15" name="Shape 12"/>
          <p:cNvSpPr/>
          <p:nvPr/>
        </p:nvSpPr>
        <p:spPr>
          <a:xfrm>
            <a:off x="3694176" y="3456432"/>
            <a:ext cx="896112" cy="246888"/>
          </a:xfrm>
          <a:prstGeom prst="roundRect">
            <a:avLst>
              <a:gd name="adj" fmla="val 51852"/>
            </a:avLst>
          </a:prstGeom>
          <a:solidFill>
            <a:srgbClr val="141B29"/>
          </a:solidFill>
          <a:ln w="8890">
            <a:solidFill>
              <a:srgbClr val="2A3346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 txBox="1"/>
          <p:nvPr/>
        </p:nvSpPr>
        <p:spPr>
          <a:xfrm>
            <a:off x="3767328" y="3470148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kern="0" spc="60" dirty="0">
                <a:solidFill>
                  <a:srgbClr val="AAB2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BOOK</a:t>
            </a:r>
            <a:endParaRPr lang="en-US" sz="820" dirty="0"/>
          </a:p>
        </p:txBody>
      </p:sp>
      <p:sp>
        <p:nvSpPr>
          <p:cNvPr id="17" name="Shape 14"/>
          <p:cNvSpPr/>
          <p:nvPr/>
        </p:nvSpPr>
        <p:spPr>
          <a:xfrm>
            <a:off x="4681728" y="3456432"/>
            <a:ext cx="896112" cy="246888"/>
          </a:xfrm>
          <a:prstGeom prst="roundRect">
            <a:avLst>
              <a:gd name="adj" fmla="val 51852"/>
            </a:avLst>
          </a:prstGeom>
          <a:solidFill>
            <a:srgbClr val="141B29"/>
          </a:solidFill>
          <a:ln w="8890">
            <a:solidFill>
              <a:srgbClr val="2A3346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 txBox="1"/>
          <p:nvPr/>
        </p:nvSpPr>
        <p:spPr>
          <a:xfrm>
            <a:off x="4754880" y="3470148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kern="0" spc="60" dirty="0">
                <a:solidFill>
                  <a:srgbClr val="AAB2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GROWTH</a:t>
            </a:r>
            <a:endParaRPr lang="en-US" sz="820" dirty="0"/>
          </a:p>
        </p:txBody>
      </p:sp>
      <p:sp>
        <p:nvSpPr>
          <p:cNvPr id="19" name="Shape 16"/>
          <p:cNvSpPr/>
          <p:nvPr/>
        </p:nvSpPr>
        <p:spPr>
          <a:xfrm>
            <a:off x="822960" y="4187952"/>
            <a:ext cx="237744" cy="237744"/>
          </a:xfrm>
          <a:prstGeom prst="ellipse">
            <a:avLst/>
          </a:prstGeom>
          <a:solidFill>
            <a:srgbClr val="FFD51E"/>
          </a:solidFill>
          <a:ln w="12700">
            <a:solidFill>
              <a:srgbClr val="FFD51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 txBox="1"/>
          <p:nvPr/>
        </p:nvSpPr>
        <p:spPr>
          <a:xfrm>
            <a:off x="822960" y="4233672"/>
            <a:ext cx="2377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780" dirty="0"/>
          </a:p>
        </p:txBody>
      </p:sp>
      <p:sp>
        <p:nvSpPr>
          <p:cNvPr id="21" name="Shape 18"/>
          <p:cNvSpPr/>
          <p:nvPr/>
        </p:nvSpPr>
        <p:spPr>
          <a:xfrm>
            <a:off x="1106424" y="4306824"/>
            <a:ext cx="658368" cy="0"/>
          </a:xfrm>
          <a:prstGeom prst="line">
            <a:avLst/>
          </a:prstGeom>
          <a:noFill/>
          <a:ln w="12700">
            <a:solidFill>
              <a:srgbClr val="F7F8FA">
                <a:alpha val="40000"/>
              </a:srgbClr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1792224" y="4187952"/>
            <a:ext cx="237744" cy="237744"/>
          </a:xfrm>
          <a:prstGeom prst="ellipse">
            <a:avLst/>
          </a:prstGeom>
          <a:solidFill>
            <a:srgbClr val="59D9FF"/>
          </a:solidFill>
          <a:ln w="12700">
            <a:solidFill>
              <a:srgbClr val="59D9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 txBox="1"/>
          <p:nvPr/>
        </p:nvSpPr>
        <p:spPr>
          <a:xfrm>
            <a:off x="1792224" y="4233672"/>
            <a:ext cx="2377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780" dirty="0"/>
          </a:p>
        </p:txBody>
      </p:sp>
      <p:sp>
        <p:nvSpPr>
          <p:cNvPr id="24" name="Shape 21"/>
          <p:cNvSpPr/>
          <p:nvPr/>
        </p:nvSpPr>
        <p:spPr>
          <a:xfrm>
            <a:off x="2075688" y="4306824"/>
            <a:ext cx="658368" cy="0"/>
          </a:xfrm>
          <a:prstGeom prst="line">
            <a:avLst/>
          </a:prstGeom>
          <a:noFill/>
          <a:ln w="12700">
            <a:solidFill>
              <a:srgbClr val="F7F8FA">
                <a:alpha val="40000"/>
              </a:srgbClr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2761488" y="4187952"/>
            <a:ext cx="237744" cy="237744"/>
          </a:xfrm>
          <a:prstGeom prst="ellipse">
            <a:avLst/>
          </a:prstGeom>
          <a:solidFill>
            <a:srgbClr val="FF4E98"/>
          </a:solidFill>
          <a:ln w="12700">
            <a:solidFill>
              <a:srgbClr val="FF4E9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 txBox="1"/>
          <p:nvPr/>
        </p:nvSpPr>
        <p:spPr>
          <a:xfrm>
            <a:off x="2761488" y="4233672"/>
            <a:ext cx="2377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780" dirty="0"/>
          </a:p>
        </p:txBody>
      </p:sp>
      <p:sp>
        <p:nvSpPr>
          <p:cNvPr id="27" name="Shape 24"/>
          <p:cNvSpPr/>
          <p:nvPr/>
        </p:nvSpPr>
        <p:spPr>
          <a:xfrm>
            <a:off x="3044952" y="4306824"/>
            <a:ext cx="658368" cy="0"/>
          </a:xfrm>
          <a:prstGeom prst="line">
            <a:avLst/>
          </a:prstGeom>
          <a:noFill/>
          <a:ln w="12700">
            <a:solidFill>
              <a:srgbClr val="F7F8FA">
                <a:alpha val="40000"/>
              </a:srgbClr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>
            <a:off x="3730752" y="4187952"/>
            <a:ext cx="237744" cy="237744"/>
          </a:xfrm>
          <a:prstGeom prst="ellipse">
            <a:avLst/>
          </a:prstGeom>
          <a:solidFill>
            <a:srgbClr val="57E3B1"/>
          </a:solidFill>
          <a:ln w="12700">
            <a:solidFill>
              <a:srgbClr val="57E3B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 txBox="1"/>
          <p:nvPr/>
        </p:nvSpPr>
        <p:spPr>
          <a:xfrm>
            <a:off x="3730752" y="4233672"/>
            <a:ext cx="2377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780" dirty="0"/>
          </a:p>
        </p:txBody>
      </p:sp>
      <p:sp>
        <p:nvSpPr>
          <p:cNvPr id="30" name="Shape 27"/>
          <p:cNvSpPr/>
          <p:nvPr/>
        </p:nvSpPr>
        <p:spPr>
          <a:xfrm>
            <a:off x="4014216" y="4306824"/>
            <a:ext cx="658368" cy="0"/>
          </a:xfrm>
          <a:prstGeom prst="line">
            <a:avLst/>
          </a:prstGeom>
          <a:noFill/>
          <a:ln w="12700">
            <a:solidFill>
              <a:srgbClr val="F7F8FA">
                <a:alpha val="40000"/>
              </a:srgbClr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8"/>
          <p:cNvSpPr/>
          <p:nvPr/>
        </p:nvSpPr>
        <p:spPr>
          <a:xfrm>
            <a:off x="4700016" y="4187952"/>
            <a:ext cx="237744" cy="237744"/>
          </a:xfrm>
          <a:prstGeom prst="ellipse">
            <a:avLst/>
          </a:prstGeom>
          <a:solidFill>
            <a:srgbClr val="FFD51E"/>
          </a:solidFill>
          <a:ln w="12700">
            <a:solidFill>
              <a:srgbClr val="FFD51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 txBox="1"/>
          <p:nvPr/>
        </p:nvSpPr>
        <p:spPr>
          <a:xfrm>
            <a:off x="4700016" y="4233672"/>
            <a:ext cx="2377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780" dirty="0"/>
          </a:p>
        </p:txBody>
      </p:sp>
      <p:sp>
        <p:nvSpPr>
          <p:cNvPr id="33" name="Shape 30"/>
          <p:cNvSpPr/>
          <p:nvPr/>
        </p:nvSpPr>
        <p:spPr>
          <a:xfrm>
            <a:off x="731520" y="4800600"/>
            <a:ext cx="5120640" cy="859536"/>
          </a:xfrm>
          <a:prstGeom prst="roundRect">
            <a:avLst>
              <a:gd name="adj" fmla="val 14894"/>
            </a:avLst>
          </a:prstGeom>
          <a:solidFill>
            <a:srgbClr val="101522"/>
          </a:solidFill>
          <a:ln w="8890">
            <a:solidFill>
              <a:srgbClr val="2A3346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 txBox="1"/>
          <p:nvPr/>
        </p:nvSpPr>
        <p:spPr>
          <a:xfrm>
            <a:off x="969264" y="5010912"/>
            <a:ext cx="9509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80" b="1" kern="0" spc="110" dirty="0">
                <a:solidFill>
                  <a:srgbClr val="FFD5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 script</a:t>
            </a:r>
            <a:endParaRPr lang="en-US" sz="880" dirty="0"/>
          </a:p>
        </p:txBody>
      </p:sp>
      <p:sp>
        <p:nvSpPr>
          <p:cNvPr id="35" name="Text 32"/>
          <p:cNvSpPr txBox="1"/>
          <p:nvPr/>
        </p:nvSpPr>
        <p:spPr>
          <a:xfrm>
            <a:off x="1920240" y="496519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F7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show the interaction → explain the reasoning → let the product prove the claim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6638544" y="1197864"/>
            <a:ext cx="4663440" cy="4517136"/>
          </a:xfrm>
          <a:prstGeom prst="roundRect">
            <a:avLst>
              <a:gd name="adj" fmla="val 2429"/>
            </a:avLst>
          </a:prstGeom>
          <a:solidFill>
            <a:srgbClr val="000000">
              <a:alpha val="3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4"/>
          <p:cNvSpPr/>
          <p:nvPr/>
        </p:nvSpPr>
        <p:spPr>
          <a:xfrm>
            <a:off x="6565392" y="1115568"/>
            <a:ext cx="4663440" cy="4517136"/>
          </a:xfrm>
          <a:prstGeom prst="roundRect">
            <a:avLst>
              <a:gd name="adj" fmla="val 2429"/>
            </a:avLst>
          </a:prstGeom>
          <a:solidFill>
            <a:srgbClr val="101522"/>
          </a:solidFill>
          <a:ln w="12700">
            <a:solidFill>
              <a:srgbClr val="2A33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5"/>
          <p:cNvSpPr/>
          <p:nvPr/>
        </p:nvSpPr>
        <p:spPr>
          <a:xfrm>
            <a:off x="6583680" y="1133856"/>
            <a:ext cx="4626864" cy="301752"/>
          </a:xfrm>
          <a:prstGeom prst="roundRect">
            <a:avLst>
              <a:gd name="adj" fmla="val 24242"/>
            </a:avLst>
          </a:prstGeom>
          <a:solidFill>
            <a:srgbClr val="0B101B"/>
          </a:solidFill>
          <a:ln w="12700">
            <a:solidFill>
              <a:srgbClr val="0B101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6"/>
          <p:cNvSpPr/>
          <p:nvPr/>
        </p:nvSpPr>
        <p:spPr>
          <a:xfrm>
            <a:off x="6702552" y="1234440"/>
            <a:ext cx="64008" cy="64008"/>
          </a:xfrm>
          <a:prstGeom prst="ellipse">
            <a:avLst/>
          </a:prstGeom>
          <a:solidFill>
            <a:srgbClr val="FF4E98"/>
          </a:solidFill>
          <a:ln w="12700">
            <a:solidFill>
              <a:srgbClr val="FF4E9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7"/>
          <p:cNvSpPr/>
          <p:nvPr/>
        </p:nvSpPr>
        <p:spPr>
          <a:xfrm>
            <a:off x="6812280" y="1234440"/>
            <a:ext cx="64008" cy="64008"/>
          </a:xfrm>
          <a:prstGeom prst="ellipse">
            <a:avLst/>
          </a:prstGeom>
          <a:solidFill>
            <a:srgbClr val="FFD51E"/>
          </a:solidFill>
          <a:ln w="12700">
            <a:solidFill>
              <a:srgbClr val="FFD51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8"/>
          <p:cNvSpPr/>
          <p:nvPr/>
        </p:nvSpPr>
        <p:spPr>
          <a:xfrm>
            <a:off x="6922008" y="1234440"/>
            <a:ext cx="64008" cy="64008"/>
          </a:xfrm>
          <a:prstGeom prst="ellipse">
            <a:avLst/>
          </a:prstGeom>
          <a:solidFill>
            <a:srgbClr val="57E3B1"/>
          </a:solidFill>
          <a:ln w="12700">
            <a:solidFill>
              <a:srgbClr val="57E3B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39"/>
          <p:cNvSpPr txBox="1"/>
          <p:nvPr/>
        </p:nvSpPr>
        <p:spPr>
          <a:xfrm>
            <a:off x="7132320" y="1207008"/>
            <a:ext cx="3429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737D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cultfit-mind / live</a:t>
            </a:r>
            <a:endParaRPr lang="en-US" sz="750" dirty="0"/>
          </a:p>
        </p:txBody>
      </p:sp>
      <p:sp>
        <p:nvSpPr>
          <p:cNvPr id="44" name="Shape 40"/>
          <p:cNvSpPr/>
          <p:nvPr/>
        </p:nvSpPr>
        <p:spPr>
          <a:xfrm>
            <a:off x="6556248" y="1115568"/>
            <a:ext cx="4663440" cy="4517136"/>
          </a:xfrm>
          <a:prstGeom prst="roundRect">
            <a:avLst>
              <a:gd name="adj" fmla="val 2429"/>
            </a:avLst>
          </a:prstGeom>
          <a:solidFill>
            <a:srgbClr val="FFFFFF">
              <a:alpha val="0"/>
            </a:srgbClr>
          </a:solidFill>
          <a:ln w="10160">
            <a:solidFill>
              <a:srgbClr val="566074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5" name="Text 41"/>
          <p:cNvSpPr txBox="1"/>
          <p:nvPr/>
        </p:nvSpPr>
        <p:spPr>
          <a:xfrm>
            <a:off x="11192256" y="6446520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737D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</a:t>
            </a:r>
            <a:endParaRPr lang="en-US" sz="850" dirty="0"/>
          </a:p>
        </p:txBody>
      </p:sp>
      <p:pic>
        <p:nvPicPr>
          <p:cNvPr id="49" name="Picture 48">
            <a:extLst>
              <a:ext uri="{FF2B5EF4-FFF2-40B4-BE49-F238E27FC236}">
                <a16:creationId xmlns:a16="http://schemas.microsoft.com/office/drawing/2014/main" id="{618FE2A8-5B64-1D9B-A5BD-F2F99B6ADB1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2935" t="13748" r="12830" b="865"/>
          <a:stretch>
            <a:fillRect/>
          </a:stretch>
        </p:blipFill>
        <p:spPr>
          <a:xfrm>
            <a:off x="6568440" y="1481328"/>
            <a:ext cx="4654296" cy="4159739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38160" y="-914400"/>
            <a:ext cx="4297680" cy="4297680"/>
          </a:xfrm>
          <a:prstGeom prst="ellipse">
            <a:avLst/>
          </a:prstGeom>
          <a:solidFill>
            <a:srgbClr val="9B78FF">
              <a:alpha val="6000"/>
            </a:srgbClr>
          </a:solidFill>
          <a:ln w="12700">
            <a:solidFill>
              <a:srgbClr val="9B78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914400" y="4389120"/>
            <a:ext cx="3657600" cy="3657600"/>
          </a:xfrm>
          <a:prstGeom prst="ellipse">
            <a:avLst/>
          </a:prstGeom>
          <a:solidFill>
            <a:srgbClr val="FFD51E">
              <a:alpha val="5000"/>
            </a:srgbClr>
          </a:solidFill>
          <a:ln w="12700">
            <a:solidFill>
              <a:srgbClr val="FFD51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658368" y="38404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b="1" kern="0" spc="170" dirty="0">
                <a:solidFill>
                  <a:srgbClr val="FFD5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 / DIFFERENTIATION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713232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F7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mental-health experience that still feels like cult.fit.</a:t>
            </a:r>
            <a:endParaRPr lang="en-US" sz="2900" dirty="0"/>
          </a:p>
        </p:txBody>
      </p:sp>
      <p:sp>
        <p:nvSpPr>
          <p:cNvPr id="6" name="Text 4"/>
          <p:cNvSpPr txBox="1"/>
          <p:nvPr/>
        </p:nvSpPr>
        <p:spPr>
          <a:xfrm>
            <a:off x="658367" y="1426464"/>
            <a:ext cx="10160053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20" dirty="0">
                <a:solidFill>
                  <a:srgbClr val="AAB2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Our differentiation is not “we have therapists.” It is bringing mental wellbeing into an ecosystem users already understand: and extending familiar tracking and support behaviours into a more human context.</a:t>
            </a:r>
            <a:endParaRPr lang="en-US" sz="1520" dirty="0"/>
          </a:p>
        </p:txBody>
      </p:sp>
      <p:sp>
        <p:nvSpPr>
          <p:cNvPr id="7" name="Shape 5"/>
          <p:cNvSpPr/>
          <p:nvPr/>
        </p:nvSpPr>
        <p:spPr>
          <a:xfrm>
            <a:off x="731520" y="2350008"/>
            <a:ext cx="6126480" cy="3749040"/>
          </a:xfrm>
          <a:prstGeom prst="roundRect">
            <a:avLst>
              <a:gd name="adj" fmla="val 2927"/>
            </a:avLst>
          </a:prstGeom>
          <a:solidFill>
            <a:srgbClr val="000000">
              <a:alpha val="3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58368" y="2267712"/>
            <a:ext cx="6126480" cy="3749040"/>
          </a:xfrm>
          <a:prstGeom prst="roundRect">
            <a:avLst>
              <a:gd name="adj" fmla="val 2927"/>
            </a:avLst>
          </a:prstGeom>
          <a:solidFill>
            <a:srgbClr val="101522"/>
          </a:solidFill>
          <a:ln w="12700">
            <a:solidFill>
              <a:srgbClr val="2A33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76656" y="2286000"/>
            <a:ext cx="6089904" cy="301752"/>
          </a:xfrm>
          <a:prstGeom prst="roundRect">
            <a:avLst>
              <a:gd name="adj" fmla="val 24242"/>
            </a:avLst>
          </a:prstGeom>
          <a:solidFill>
            <a:srgbClr val="0B101B"/>
          </a:solidFill>
          <a:ln w="12700">
            <a:solidFill>
              <a:srgbClr val="0B101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95528" y="2386584"/>
            <a:ext cx="64008" cy="64008"/>
          </a:xfrm>
          <a:prstGeom prst="ellipse">
            <a:avLst/>
          </a:prstGeom>
          <a:solidFill>
            <a:srgbClr val="FF4E98"/>
          </a:solidFill>
          <a:ln w="12700">
            <a:solidFill>
              <a:srgbClr val="FF4E9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905256" y="2386584"/>
            <a:ext cx="64008" cy="64008"/>
          </a:xfrm>
          <a:prstGeom prst="ellipse">
            <a:avLst/>
          </a:prstGeom>
          <a:solidFill>
            <a:srgbClr val="FFD51E"/>
          </a:solidFill>
          <a:ln w="12700">
            <a:solidFill>
              <a:srgbClr val="FFD51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014984" y="2386584"/>
            <a:ext cx="64008" cy="64008"/>
          </a:xfrm>
          <a:prstGeom prst="ellipse">
            <a:avLst/>
          </a:prstGeom>
          <a:solidFill>
            <a:srgbClr val="57E3B1"/>
          </a:solidFill>
          <a:ln w="12700">
            <a:solidFill>
              <a:srgbClr val="57E3B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1225296" y="2359152"/>
            <a:ext cx="4892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737D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cultfit-mind / feed</a:t>
            </a:r>
            <a:endParaRPr lang="en-US" sz="750" dirty="0"/>
          </a:p>
        </p:txBody>
      </p:sp>
      <p:pic>
        <p:nvPicPr>
          <p:cNvPr id="14" name="Image 0" descr="/mnt/data/site_screens/feed.png"/>
          <p:cNvPicPr>
            <a:picLocks noChangeAspect="1"/>
          </p:cNvPicPr>
          <p:nvPr/>
        </p:nvPicPr>
        <p:blipFill>
          <a:blip r:embed="rId3"/>
          <a:srcRect t="5315" b="5315"/>
          <a:stretch/>
        </p:blipFill>
        <p:spPr>
          <a:xfrm>
            <a:off x="676656" y="2596896"/>
            <a:ext cx="6089904" cy="3401568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658368" y="2267712"/>
            <a:ext cx="6126480" cy="3749040"/>
          </a:xfrm>
          <a:prstGeom prst="roundRect">
            <a:avLst>
              <a:gd name="adj" fmla="val 2927"/>
            </a:avLst>
          </a:prstGeom>
          <a:solidFill>
            <a:srgbClr val="FFFFFF">
              <a:alpha val="0"/>
            </a:srgbClr>
          </a:solidFill>
          <a:ln w="10160">
            <a:solidFill>
              <a:srgbClr val="566074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7077456" y="2359152"/>
            <a:ext cx="4096512" cy="713232"/>
          </a:xfrm>
          <a:prstGeom prst="roundRect">
            <a:avLst>
              <a:gd name="adj" fmla="val 15385"/>
            </a:avLst>
          </a:prstGeom>
          <a:solidFill>
            <a:srgbClr val="101522"/>
          </a:solidFill>
          <a:ln w="8890">
            <a:solidFill>
              <a:srgbClr val="2A3346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7242048" y="2523744"/>
            <a:ext cx="246888" cy="246888"/>
          </a:xfrm>
          <a:prstGeom prst="ellipse">
            <a:avLst/>
          </a:prstGeom>
          <a:solidFill>
            <a:srgbClr val="59D9FF"/>
          </a:solidFill>
          <a:ln w="12700">
            <a:solidFill>
              <a:srgbClr val="59D9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 txBox="1"/>
          <p:nvPr/>
        </p:nvSpPr>
        <p:spPr>
          <a:xfrm>
            <a:off x="7242048" y="2583180"/>
            <a:ext cx="2468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850" dirty="0"/>
          </a:p>
        </p:txBody>
      </p:sp>
      <p:sp>
        <p:nvSpPr>
          <p:cNvPr id="19" name="Text 16"/>
          <p:cNvSpPr txBox="1"/>
          <p:nvPr/>
        </p:nvSpPr>
        <p:spPr>
          <a:xfrm>
            <a:off x="7580376" y="2542032"/>
            <a:ext cx="3438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30" b="1" dirty="0">
                <a:solidFill>
                  <a:srgbClr val="F7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FAMILIAR ECOSYSTEM</a:t>
            </a:r>
            <a:endParaRPr lang="en-US" sz="1230" dirty="0"/>
          </a:p>
        </p:txBody>
      </p:sp>
      <p:sp>
        <p:nvSpPr>
          <p:cNvPr id="20" name="Text 17"/>
          <p:cNvSpPr txBox="1"/>
          <p:nvPr/>
        </p:nvSpPr>
        <p:spPr>
          <a:xfrm>
            <a:off x="7580376" y="2807208"/>
            <a:ext cx="34381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AAB2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 brand language, different emotional state</a:t>
            </a:r>
            <a:endParaRPr lang="en-US" sz="1080" dirty="0"/>
          </a:p>
        </p:txBody>
      </p:sp>
      <p:sp>
        <p:nvSpPr>
          <p:cNvPr id="21" name="Shape 18"/>
          <p:cNvSpPr/>
          <p:nvPr/>
        </p:nvSpPr>
        <p:spPr>
          <a:xfrm>
            <a:off x="7077456" y="3200400"/>
            <a:ext cx="4096512" cy="713232"/>
          </a:xfrm>
          <a:prstGeom prst="roundRect">
            <a:avLst>
              <a:gd name="adj" fmla="val 15385"/>
            </a:avLst>
          </a:prstGeom>
          <a:solidFill>
            <a:srgbClr val="101522"/>
          </a:solidFill>
          <a:ln w="8890">
            <a:solidFill>
              <a:srgbClr val="2A3346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7242048" y="3364992"/>
            <a:ext cx="246888" cy="246888"/>
          </a:xfrm>
          <a:prstGeom prst="ellipse">
            <a:avLst/>
          </a:prstGeom>
          <a:solidFill>
            <a:srgbClr val="FF4E98"/>
          </a:solidFill>
          <a:ln w="12700">
            <a:solidFill>
              <a:srgbClr val="FF4E9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 txBox="1"/>
          <p:nvPr/>
        </p:nvSpPr>
        <p:spPr>
          <a:xfrm>
            <a:off x="7242048" y="3424428"/>
            <a:ext cx="2468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50" dirty="0"/>
          </a:p>
        </p:txBody>
      </p:sp>
      <p:sp>
        <p:nvSpPr>
          <p:cNvPr id="24" name="Text 21"/>
          <p:cNvSpPr txBox="1"/>
          <p:nvPr/>
        </p:nvSpPr>
        <p:spPr>
          <a:xfrm>
            <a:off x="7580376" y="3383280"/>
            <a:ext cx="3438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30" b="1" dirty="0">
                <a:solidFill>
                  <a:srgbClr val="F7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 SUPPORT</a:t>
            </a:r>
            <a:endParaRPr lang="en-US" sz="1230" dirty="0"/>
          </a:p>
        </p:txBody>
      </p:sp>
      <p:sp>
        <p:nvSpPr>
          <p:cNvPr id="25" name="Text 22"/>
          <p:cNvSpPr txBox="1"/>
          <p:nvPr/>
        </p:nvSpPr>
        <p:spPr>
          <a:xfrm>
            <a:off x="7580376" y="3648456"/>
            <a:ext cx="34381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AAB2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specialists + continuity + immediate self-guided help</a:t>
            </a:r>
            <a:endParaRPr lang="en-US" sz="1080" dirty="0"/>
          </a:p>
        </p:txBody>
      </p:sp>
      <p:sp>
        <p:nvSpPr>
          <p:cNvPr id="26" name="Shape 23"/>
          <p:cNvSpPr/>
          <p:nvPr/>
        </p:nvSpPr>
        <p:spPr>
          <a:xfrm>
            <a:off x="7077456" y="4041648"/>
            <a:ext cx="4096512" cy="713232"/>
          </a:xfrm>
          <a:prstGeom prst="roundRect">
            <a:avLst>
              <a:gd name="adj" fmla="val 15385"/>
            </a:avLst>
          </a:prstGeom>
          <a:solidFill>
            <a:srgbClr val="101522"/>
          </a:solidFill>
          <a:ln w="8890">
            <a:solidFill>
              <a:srgbClr val="2A3346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>
            <a:off x="7242048" y="4206240"/>
            <a:ext cx="246888" cy="246888"/>
          </a:xfrm>
          <a:prstGeom prst="ellipse">
            <a:avLst/>
          </a:prstGeom>
          <a:solidFill>
            <a:srgbClr val="57E3B1"/>
          </a:solidFill>
          <a:ln w="12700">
            <a:solidFill>
              <a:srgbClr val="57E3B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 txBox="1"/>
          <p:nvPr/>
        </p:nvSpPr>
        <p:spPr>
          <a:xfrm>
            <a:off x="7242048" y="4265676"/>
            <a:ext cx="2468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50" dirty="0"/>
          </a:p>
        </p:txBody>
      </p:sp>
      <p:sp>
        <p:nvSpPr>
          <p:cNvPr id="29" name="Text 26"/>
          <p:cNvSpPr txBox="1"/>
          <p:nvPr/>
        </p:nvSpPr>
        <p:spPr>
          <a:xfrm>
            <a:off x="7580376" y="4224528"/>
            <a:ext cx="3438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30" b="1" dirty="0">
                <a:solidFill>
                  <a:srgbClr val="F7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PATTERN TRACKING</a:t>
            </a:r>
            <a:endParaRPr lang="en-US" sz="1230" dirty="0"/>
          </a:p>
        </p:txBody>
      </p:sp>
      <p:sp>
        <p:nvSpPr>
          <p:cNvPr id="30" name="Text 27"/>
          <p:cNvSpPr txBox="1"/>
          <p:nvPr/>
        </p:nvSpPr>
        <p:spPr>
          <a:xfrm>
            <a:off x="7580376" y="4489704"/>
            <a:ext cx="34381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AAB2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mood alongside sleep, activity, habits and reflection</a:t>
            </a:r>
            <a:endParaRPr lang="en-US" sz="1080" dirty="0"/>
          </a:p>
        </p:txBody>
      </p:sp>
      <p:sp>
        <p:nvSpPr>
          <p:cNvPr id="31" name="Shape 28"/>
          <p:cNvSpPr/>
          <p:nvPr/>
        </p:nvSpPr>
        <p:spPr>
          <a:xfrm>
            <a:off x="7077456" y="4882896"/>
            <a:ext cx="4096512" cy="713232"/>
          </a:xfrm>
          <a:prstGeom prst="roundRect">
            <a:avLst>
              <a:gd name="adj" fmla="val 15385"/>
            </a:avLst>
          </a:prstGeom>
          <a:solidFill>
            <a:srgbClr val="101522"/>
          </a:solidFill>
          <a:ln w="8890">
            <a:solidFill>
              <a:srgbClr val="2A3346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29"/>
          <p:cNvSpPr/>
          <p:nvPr/>
        </p:nvSpPr>
        <p:spPr>
          <a:xfrm>
            <a:off x="7242048" y="5047488"/>
            <a:ext cx="246888" cy="246888"/>
          </a:xfrm>
          <a:prstGeom prst="ellipse">
            <a:avLst/>
          </a:prstGeom>
          <a:solidFill>
            <a:srgbClr val="FFD51E"/>
          </a:solidFill>
          <a:ln w="12700">
            <a:solidFill>
              <a:srgbClr val="FFD51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 txBox="1"/>
          <p:nvPr/>
        </p:nvSpPr>
        <p:spPr>
          <a:xfrm>
            <a:off x="7242048" y="5106924"/>
            <a:ext cx="2468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50" dirty="0"/>
          </a:p>
        </p:txBody>
      </p:sp>
      <p:sp>
        <p:nvSpPr>
          <p:cNvPr id="34" name="Text 31"/>
          <p:cNvSpPr txBox="1"/>
          <p:nvPr/>
        </p:nvSpPr>
        <p:spPr>
          <a:xfrm>
            <a:off x="7580376" y="5065776"/>
            <a:ext cx="3438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30" b="1" dirty="0">
                <a:solidFill>
                  <a:srgbClr val="F7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ACCESSIBILITY BY DEFAULT</a:t>
            </a:r>
            <a:endParaRPr lang="en-US" sz="1230" dirty="0"/>
          </a:p>
        </p:txBody>
      </p:sp>
      <p:sp>
        <p:nvSpPr>
          <p:cNvPr id="35" name="Text 32"/>
          <p:cNvSpPr txBox="1"/>
          <p:nvPr/>
        </p:nvSpPr>
        <p:spPr>
          <a:xfrm>
            <a:off x="7580376" y="5330952"/>
            <a:ext cx="34381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AAB2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 aloud + focus states + reduced motion + clear steps</a:t>
            </a:r>
            <a:endParaRPr lang="en-US" sz="1080" dirty="0"/>
          </a:p>
        </p:txBody>
      </p:sp>
      <p:sp>
        <p:nvSpPr>
          <p:cNvPr id="36" name="Shape 33"/>
          <p:cNvSpPr/>
          <p:nvPr/>
        </p:nvSpPr>
        <p:spPr>
          <a:xfrm>
            <a:off x="658368" y="6240780"/>
            <a:ext cx="3182112" cy="246888"/>
          </a:xfrm>
          <a:prstGeom prst="roundRect">
            <a:avLst>
              <a:gd name="adj" fmla="val 51852"/>
            </a:avLst>
          </a:prstGeom>
          <a:solidFill>
            <a:srgbClr val="141B29"/>
          </a:solidFill>
          <a:ln w="8890">
            <a:solidFill>
              <a:srgbClr val="2A3346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4"/>
          <p:cNvSpPr txBox="1"/>
          <p:nvPr/>
        </p:nvSpPr>
        <p:spPr>
          <a:xfrm>
            <a:off x="731520" y="6254496"/>
            <a:ext cx="3035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70" b="1" kern="0" spc="60" dirty="0">
                <a:solidFill>
                  <a:srgbClr val="FFD5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DIFFERENCE IS THE CONNECTION</a:t>
            </a:r>
            <a:endParaRPr lang="en-US" sz="870" dirty="0"/>
          </a:p>
        </p:txBody>
      </p:sp>
      <p:sp>
        <p:nvSpPr>
          <p:cNvPr id="38" name="Text 35"/>
          <p:cNvSpPr txBox="1"/>
          <p:nvPr/>
        </p:nvSpPr>
        <p:spPr>
          <a:xfrm>
            <a:off x="11192256" y="6446520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737D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</a:t>
            </a:r>
            <a:endParaRPr lang="en-US" sz="850" dirty="0"/>
          </a:p>
        </p:txBody>
      </p:sp>
    </p:spTree>
  </p:cSld>
  <p:clrMapOvr>
    <a:masterClrMapping/>
  </p:clrMapOvr>
  <p:transition>
    <p:wip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motion_assets/ambient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4">
              <a:alpha val="90000"/>
            </a:srgbClr>
          </a:solidFill>
          <a:ln w="12700">
            <a:solidFill>
              <a:srgbClr val="070A1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502920" y="201168"/>
            <a:ext cx="0" cy="6519672"/>
          </a:xfrm>
          <a:prstGeom prst="line">
            <a:avLst/>
          </a:prstGeom>
          <a:noFill/>
          <a:ln w="5080">
            <a:solidFill>
              <a:srgbClr val="2A3346">
                <a:alpha val="1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1280160" y="201168"/>
            <a:ext cx="0" cy="6519672"/>
          </a:xfrm>
          <a:prstGeom prst="line">
            <a:avLst/>
          </a:prstGeom>
          <a:noFill/>
          <a:ln w="5080">
            <a:solidFill>
              <a:srgbClr val="2A3346">
                <a:alpha val="1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2057400" y="201168"/>
            <a:ext cx="0" cy="6519672"/>
          </a:xfrm>
          <a:prstGeom prst="line">
            <a:avLst/>
          </a:prstGeom>
          <a:noFill/>
          <a:ln w="5080">
            <a:solidFill>
              <a:srgbClr val="2A3346">
                <a:alpha val="1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2834640" y="201168"/>
            <a:ext cx="0" cy="6519672"/>
          </a:xfrm>
          <a:prstGeom prst="line">
            <a:avLst/>
          </a:prstGeom>
          <a:noFill/>
          <a:ln w="5080">
            <a:solidFill>
              <a:srgbClr val="2A3346">
                <a:alpha val="1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3611880" y="201168"/>
            <a:ext cx="0" cy="6519672"/>
          </a:xfrm>
          <a:prstGeom prst="line">
            <a:avLst/>
          </a:prstGeom>
          <a:noFill/>
          <a:ln w="5080">
            <a:solidFill>
              <a:srgbClr val="2A3346">
                <a:alpha val="1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4389120" y="201168"/>
            <a:ext cx="0" cy="6519672"/>
          </a:xfrm>
          <a:prstGeom prst="line">
            <a:avLst/>
          </a:prstGeom>
          <a:noFill/>
          <a:ln w="5080">
            <a:solidFill>
              <a:srgbClr val="2A3346">
                <a:alpha val="1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5166360" y="201168"/>
            <a:ext cx="0" cy="6519672"/>
          </a:xfrm>
          <a:prstGeom prst="line">
            <a:avLst/>
          </a:prstGeom>
          <a:noFill/>
          <a:ln w="5080">
            <a:solidFill>
              <a:srgbClr val="2A3346">
                <a:alpha val="1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5943600" y="201168"/>
            <a:ext cx="0" cy="6519672"/>
          </a:xfrm>
          <a:prstGeom prst="line">
            <a:avLst/>
          </a:prstGeom>
          <a:noFill/>
          <a:ln w="5080">
            <a:solidFill>
              <a:srgbClr val="2A3346">
                <a:alpha val="1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6720840" y="201168"/>
            <a:ext cx="0" cy="6519672"/>
          </a:xfrm>
          <a:prstGeom prst="line">
            <a:avLst/>
          </a:prstGeom>
          <a:noFill/>
          <a:ln w="5080">
            <a:solidFill>
              <a:srgbClr val="2A3346">
                <a:alpha val="1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7498080" y="201168"/>
            <a:ext cx="0" cy="6519672"/>
          </a:xfrm>
          <a:prstGeom prst="line">
            <a:avLst/>
          </a:prstGeom>
          <a:noFill/>
          <a:ln w="5080">
            <a:solidFill>
              <a:srgbClr val="2A3346">
                <a:alpha val="1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8275320" y="201168"/>
            <a:ext cx="0" cy="6519672"/>
          </a:xfrm>
          <a:prstGeom prst="line">
            <a:avLst/>
          </a:prstGeom>
          <a:noFill/>
          <a:ln w="5080">
            <a:solidFill>
              <a:srgbClr val="2A3346">
                <a:alpha val="1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9052560" y="201168"/>
            <a:ext cx="0" cy="6519672"/>
          </a:xfrm>
          <a:prstGeom prst="line">
            <a:avLst/>
          </a:prstGeom>
          <a:noFill/>
          <a:ln w="5080">
            <a:solidFill>
              <a:srgbClr val="2A3346">
                <a:alpha val="1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9829800" y="201168"/>
            <a:ext cx="0" cy="6519672"/>
          </a:xfrm>
          <a:prstGeom prst="line">
            <a:avLst/>
          </a:prstGeom>
          <a:noFill/>
          <a:ln w="5080">
            <a:solidFill>
              <a:srgbClr val="2A3346">
                <a:alpha val="1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10607040" y="201168"/>
            <a:ext cx="0" cy="6519672"/>
          </a:xfrm>
          <a:prstGeom prst="line">
            <a:avLst/>
          </a:prstGeom>
          <a:noFill/>
          <a:ln w="5080">
            <a:solidFill>
              <a:srgbClr val="2A3346">
                <a:alpha val="1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11384280" y="201168"/>
            <a:ext cx="0" cy="6519672"/>
          </a:xfrm>
          <a:prstGeom prst="line">
            <a:avLst/>
          </a:prstGeom>
          <a:noFill/>
          <a:ln w="5080">
            <a:solidFill>
              <a:srgbClr val="2A3346">
                <a:alpha val="1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12161520" y="201168"/>
            <a:ext cx="0" cy="6519672"/>
          </a:xfrm>
          <a:prstGeom prst="line">
            <a:avLst/>
          </a:prstGeom>
          <a:noFill/>
          <a:ln w="5080">
            <a:solidFill>
              <a:srgbClr val="2A3346">
                <a:alpha val="1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228600" y="320040"/>
            <a:ext cx="11734495" cy="0"/>
          </a:xfrm>
          <a:prstGeom prst="line">
            <a:avLst/>
          </a:prstGeom>
          <a:noFill/>
          <a:ln w="5080">
            <a:solidFill>
              <a:srgbClr val="2A3346">
                <a:alpha val="8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228600" y="978408"/>
            <a:ext cx="11734495" cy="0"/>
          </a:xfrm>
          <a:prstGeom prst="line">
            <a:avLst/>
          </a:prstGeom>
          <a:noFill/>
          <a:ln w="5080">
            <a:solidFill>
              <a:srgbClr val="2A3346">
                <a:alpha val="8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228600" y="1636776"/>
            <a:ext cx="11734495" cy="0"/>
          </a:xfrm>
          <a:prstGeom prst="line">
            <a:avLst/>
          </a:prstGeom>
          <a:noFill/>
          <a:ln w="5080">
            <a:solidFill>
              <a:srgbClr val="2A3346">
                <a:alpha val="8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228600" y="2295144"/>
            <a:ext cx="11734495" cy="0"/>
          </a:xfrm>
          <a:prstGeom prst="line">
            <a:avLst/>
          </a:prstGeom>
          <a:noFill/>
          <a:ln w="5080">
            <a:solidFill>
              <a:srgbClr val="2A3346">
                <a:alpha val="8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228600" y="2953512"/>
            <a:ext cx="11734495" cy="0"/>
          </a:xfrm>
          <a:prstGeom prst="line">
            <a:avLst/>
          </a:prstGeom>
          <a:noFill/>
          <a:ln w="5080">
            <a:solidFill>
              <a:srgbClr val="2A3346">
                <a:alpha val="8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228600" y="3611880"/>
            <a:ext cx="11734495" cy="0"/>
          </a:xfrm>
          <a:prstGeom prst="line">
            <a:avLst/>
          </a:prstGeom>
          <a:noFill/>
          <a:ln w="5080">
            <a:solidFill>
              <a:srgbClr val="2A3346">
                <a:alpha val="8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228600" y="4270248"/>
            <a:ext cx="11734495" cy="0"/>
          </a:xfrm>
          <a:prstGeom prst="line">
            <a:avLst/>
          </a:prstGeom>
          <a:noFill/>
          <a:ln w="5080">
            <a:solidFill>
              <a:srgbClr val="2A3346">
                <a:alpha val="8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>
            <a:off x="228600" y="4928616"/>
            <a:ext cx="11734495" cy="0"/>
          </a:xfrm>
          <a:prstGeom prst="line">
            <a:avLst/>
          </a:prstGeom>
          <a:noFill/>
          <a:ln w="5080">
            <a:solidFill>
              <a:srgbClr val="2A3346">
                <a:alpha val="8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>
            <a:off x="228600" y="5586984"/>
            <a:ext cx="11734495" cy="0"/>
          </a:xfrm>
          <a:prstGeom prst="line">
            <a:avLst/>
          </a:prstGeom>
          <a:noFill/>
          <a:ln w="5080">
            <a:solidFill>
              <a:srgbClr val="2A3346">
                <a:alpha val="8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228600" y="6245352"/>
            <a:ext cx="11734495" cy="0"/>
          </a:xfrm>
          <a:prstGeom prst="line">
            <a:avLst/>
          </a:prstGeom>
          <a:noFill/>
          <a:ln w="5080">
            <a:solidFill>
              <a:srgbClr val="2A3346">
                <a:alpha val="8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7"/>
          <p:cNvSpPr/>
          <p:nvPr/>
        </p:nvSpPr>
        <p:spPr>
          <a:xfrm>
            <a:off x="8046720" y="-1097280"/>
            <a:ext cx="5120640" cy="5120640"/>
          </a:xfrm>
          <a:prstGeom prst="ellipse">
            <a:avLst/>
          </a:prstGeom>
          <a:solidFill>
            <a:srgbClr val="FF4E98">
              <a:alpha val="11000"/>
            </a:srgbClr>
          </a:solidFill>
          <a:ln w="12700">
            <a:solidFill>
              <a:srgbClr val="FF4E9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8"/>
          <p:cNvSpPr/>
          <p:nvPr/>
        </p:nvSpPr>
        <p:spPr>
          <a:xfrm>
            <a:off x="-914400" y="4389120"/>
            <a:ext cx="3931920" cy="3931920"/>
          </a:xfrm>
          <a:prstGeom prst="ellipse">
            <a:avLst/>
          </a:prstGeom>
          <a:solidFill>
            <a:srgbClr val="59D9FF">
              <a:alpha val="9000"/>
            </a:srgbClr>
          </a:solidFill>
          <a:ln w="12700">
            <a:solidFill>
              <a:srgbClr val="59D9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29"/>
          <p:cNvSpPr/>
          <p:nvPr/>
        </p:nvSpPr>
        <p:spPr>
          <a:xfrm>
            <a:off x="5486400" y="3657600"/>
            <a:ext cx="3474720" cy="3474720"/>
          </a:xfrm>
          <a:prstGeom prst="ellipse">
            <a:avLst/>
          </a:prstGeom>
          <a:solidFill>
            <a:srgbClr val="FFD51E">
              <a:alpha val="6000"/>
            </a:srgbClr>
          </a:solidFill>
          <a:ln w="12700">
            <a:solidFill>
              <a:srgbClr val="FFD51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 txBox="1"/>
          <p:nvPr/>
        </p:nvSpPr>
        <p:spPr>
          <a:xfrm>
            <a:off x="694944" y="475488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20" b="1" kern="0" spc="180" dirty="0">
                <a:solidFill>
                  <a:srgbClr val="FFD5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CLOSING</a:t>
            </a:r>
            <a:endParaRPr lang="en-US" sz="920" dirty="0"/>
          </a:p>
        </p:txBody>
      </p:sp>
      <p:sp>
        <p:nvSpPr>
          <p:cNvPr id="34" name="Text 31"/>
          <p:cNvSpPr txBox="1"/>
          <p:nvPr/>
        </p:nvSpPr>
        <p:spPr>
          <a:xfrm>
            <a:off x="694944" y="1005840"/>
            <a:ext cx="5120640" cy="285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7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BODY.</a:t>
            </a:r>
            <a:r>
              <a:rPr lang="en-US" sz="3800" dirty="0"/>
              <a:t> </a:t>
            </a:r>
            <a:r>
              <a:rPr lang="en-US" sz="3800" b="1" dirty="0">
                <a:solidFill>
                  <a:srgbClr val="F7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MIND.</a:t>
            </a:r>
            <a:endParaRPr lang="en-US" sz="3800" dirty="0"/>
          </a:p>
          <a:p>
            <a:pPr marL="0" indent="0" algn="l">
              <a:buNone/>
            </a:pPr>
            <a:r>
              <a:rPr lang="en-US" sz="3800" b="1" dirty="0">
                <a:solidFill>
                  <a:srgbClr val="F7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HABITS.</a:t>
            </a:r>
            <a:r>
              <a:rPr lang="en-US" sz="3800" dirty="0"/>
              <a:t> </a:t>
            </a:r>
            <a:r>
              <a:rPr lang="en-US" sz="3800" b="1" dirty="0">
                <a:solidFill>
                  <a:srgbClr val="F7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GROWTH.</a:t>
            </a:r>
            <a:endParaRPr lang="en-US" sz="3800" dirty="0"/>
          </a:p>
        </p:txBody>
      </p:sp>
      <p:sp>
        <p:nvSpPr>
          <p:cNvPr id="35" name="Text 32"/>
          <p:cNvSpPr txBox="1"/>
          <p:nvPr/>
        </p:nvSpPr>
        <p:spPr>
          <a:xfrm>
            <a:off x="685801" y="3255264"/>
            <a:ext cx="5138928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20" dirty="0">
                <a:solidFill>
                  <a:srgbClr val="AAB2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cult.fit started with physical fitness. This proposal extends the ecosystem into mental wellbeing — without abandoning the identity people already recognize.</a:t>
            </a:r>
            <a:endParaRPr lang="en-US" sz="1620" dirty="0"/>
          </a:p>
        </p:txBody>
      </p:sp>
      <p:sp>
        <p:nvSpPr>
          <p:cNvPr id="36" name="Shape 33"/>
          <p:cNvSpPr/>
          <p:nvPr/>
        </p:nvSpPr>
        <p:spPr>
          <a:xfrm>
            <a:off x="731520" y="5504688"/>
            <a:ext cx="1554480" cy="246888"/>
          </a:xfrm>
          <a:prstGeom prst="roundRect">
            <a:avLst>
              <a:gd name="adj" fmla="val 51852"/>
            </a:avLst>
          </a:prstGeom>
          <a:solidFill>
            <a:srgbClr val="FFD51E"/>
          </a:solidFill>
          <a:ln w="8890">
            <a:solidFill>
              <a:srgbClr val="FFD51E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4"/>
          <p:cNvSpPr txBox="1"/>
          <p:nvPr/>
        </p:nvSpPr>
        <p:spPr>
          <a:xfrm>
            <a:off x="804672" y="5518404"/>
            <a:ext cx="1408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kern="0" spc="6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MIND × MOTION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2487168" y="549554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F7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healthier digital experience for the whole person.</a:t>
            </a:r>
            <a:endParaRPr lang="en-US" sz="1550" dirty="0"/>
          </a:p>
        </p:txBody>
      </p:sp>
      <p:sp>
        <p:nvSpPr>
          <p:cNvPr id="39" name="Shape 36"/>
          <p:cNvSpPr/>
          <p:nvPr/>
        </p:nvSpPr>
        <p:spPr>
          <a:xfrm>
            <a:off x="6711696" y="1179576"/>
            <a:ext cx="4498848" cy="4498848"/>
          </a:xfrm>
          <a:prstGeom prst="roundRect">
            <a:avLst>
              <a:gd name="adj" fmla="val 2439"/>
            </a:avLst>
          </a:prstGeom>
          <a:solidFill>
            <a:srgbClr val="000000">
              <a:alpha val="3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7"/>
          <p:cNvSpPr/>
          <p:nvPr/>
        </p:nvSpPr>
        <p:spPr>
          <a:xfrm>
            <a:off x="6638544" y="1097280"/>
            <a:ext cx="4498848" cy="4498848"/>
          </a:xfrm>
          <a:prstGeom prst="roundRect">
            <a:avLst>
              <a:gd name="adj" fmla="val 2439"/>
            </a:avLst>
          </a:prstGeom>
          <a:solidFill>
            <a:srgbClr val="101522"/>
          </a:solidFill>
          <a:ln w="12700">
            <a:solidFill>
              <a:srgbClr val="2A33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8"/>
          <p:cNvSpPr/>
          <p:nvPr/>
        </p:nvSpPr>
        <p:spPr>
          <a:xfrm>
            <a:off x="6656832" y="1115568"/>
            <a:ext cx="4462272" cy="301752"/>
          </a:xfrm>
          <a:prstGeom prst="roundRect">
            <a:avLst>
              <a:gd name="adj" fmla="val 24242"/>
            </a:avLst>
          </a:prstGeom>
          <a:solidFill>
            <a:srgbClr val="0B101B"/>
          </a:solidFill>
          <a:ln w="12700">
            <a:solidFill>
              <a:srgbClr val="0B101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39"/>
          <p:cNvSpPr/>
          <p:nvPr/>
        </p:nvSpPr>
        <p:spPr>
          <a:xfrm>
            <a:off x="6775704" y="1216152"/>
            <a:ext cx="64008" cy="64008"/>
          </a:xfrm>
          <a:prstGeom prst="ellipse">
            <a:avLst/>
          </a:prstGeom>
          <a:solidFill>
            <a:srgbClr val="FF4E98"/>
          </a:solidFill>
          <a:ln w="12700">
            <a:solidFill>
              <a:srgbClr val="FF4E9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0"/>
          <p:cNvSpPr/>
          <p:nvPr/>
        </p:nvSpPr>
        <p:spPr>
          <a:xfrm>
            <a:off x="6885432" y="1216152"/>
            <a:ext cx="64008" cy="64008"/>
          </a:xfrm>
          <a:prstGeom prst="ellipse">
            <a:avLst/>
          </a:prstGeom>
          <a:solidFill>
            <a:srgbClr val="FFD51E"/>
          </a:solidFill>
          <a:ln w="12700">
            <a:solidFill>
              <a:srgbClr val="FFD51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1"/>
          <p:cNvSpPr/>
          <p:nvPr/>
        </p:nvSpPr>
        <p:spPr>
          <a:xfrm>
            <a:off x="6995160" y="1216152"/>
            <a:ext cx="64008" cy="64008"/>
          </a:xfrm>
          <a:prstGeom prst="ellipse">
            <a:avLst/>
          </a:prstGeom>
          <a:solidFill>
            <a:srgbClr val="57E3B1"/>
          </a:solidFill>
          <a:ln w="12700">
            <a:solidFill>
              <a:srgbClr val="57E3B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2"/>
          <p:cNvSpPr txBox="1"/>
          <p:nvPr/>
        </p:nvSpPr>
        <p:spPr>
          <a:xfrm>
            <a:off x="7205472" y="1188720"/>
            <a:ext cx="32644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737D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cultfit-mind / home</a:t>
            </a:r>
            <a:endParaRPr lang="en-US" sz="750" dirty="0"/>
          </a:p>
        </p:txBody>
      </p:sp>
      <p:pic>
        <p:nvPicPr>
          <p:cNvPr id="46" name="Image 1" descr="/mnt/data/site_screens/index.png"/>
          <p:cNvPicPr>
            <a:picLocks noChangeAspect="1"/>
          </p:cNvPicPr>
          <p:nvPr/>
        </p:nvPicPr>
        <p:blipFill>
          <a:blip r:embed="rId4"/>
          <a:srcRect l="16410" r="16410"/>
          <a:stretch/>
        </p:blipFill>
        <p:spPr>
          <a:xfrm>
            <a:off x="6656832" y="1426464"/>
            <a:ext cx="4462272" cy="4151376"/>
          </a:xfrm>
          <a:prstGeom prst="rect">
            <a:avLst/>
          </a:prstGeom>
        </p:spPr>
      </p:pic>
      <p:sp>
        <p:nvSpPr>
          <p:cNvPr id="47" name="Shape 43"/>
          <p:cNvSpPr/>
          <p:nvPr/>
        </p:nvSpPr>
        <p:spPr>
          <a:xfrm>
            <a:off x="6638544" y="1097280"/>
            <a:ext cx="4498848" cy="4498848"/>
          </a:xfrm>
          <a:prstGeom prst="roundRect">
            <a:avLst>
              <a:gd name="adj" fmla="val 2439"/>
            </a:avLst>
          </a:prstGeom>
          <a:solidFill>
            <a:srgbClr val="FFFFFF">
              <a:alpha val="0"/>
            </a:srgbClr>
          </a:solidFill>
          <a:ln w="10160">
            <a:solidFill>
              <a:srgbClr val="566074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5"/>
          <p:cNvSpPr txBox="1"/>
          <p:nvPr/>
        </p:nvSpPr>
        <p:spPr>
          <a:xfrm>
            <a:off x="11192256" y="6446520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737D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21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2468</Words>
  <Application>Microsoft Macintosh PowerPoint</Application>
  <PresentationFormat>Widescreen</PresentationFormat>
  <Paragraphs>436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Aptos</vt:lpstr>
      <vt:lpstr>Aptos Display</vt:lpstr>
      <vt:lpstr>Arial</vt:lpstr>
      <vt:lpstr>Courier New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cult.fit mind — Product Pitch</dc:title>
  <dc:subject>cult.fit mind product pitch</dc:subject>
  <dc:creator>OpenAI</dc:creator>
  <cp:lastModifiedBy>SOURISH SHROFF - 70572500116</cp:lastModifiedBy>
  <cp:revision>3</cp:revision>
  <dcterms:created xsi:type="dcterms:W3CDTF">2026-09-29T08:21:26Z</dcterms:created>
  <dcterms:modified xsi:type="dcterms:W3CDTF">2026-09-29T10:13:25Z</dcterms:modified>
</cp:coreProperties>
</file>